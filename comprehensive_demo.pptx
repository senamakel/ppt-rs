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handoutMasterIdLst>
    <p:handoutMasterId r:id="rId4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92" y="-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slide" Target="slides/slide5.xml"/>
<Relationship Id="rId7" Type="http://schemas.openxmlformats.org/officeDocument/2006/relationships/slide" Target="slides/slide6.xml"/>
<Relationship Id="rId8" Type="http://schemas.openxmlformats.org/officeDocument/2006/relationships/slide" Target="slides/slide7.xml"/>
<Relationship Id="rId9" Type="http://schemas.openxmlformats.org/officeDocument/2006/relationships/slide" Target="slides/slide8.xml"/>
<Relationship Id="rId10" Type="http://schemas.openxmlformats.org/officeDocument/2006/relationships/slide" Target="slides/slide9.xml"/>
<Relationship Id="rId11" Type="http://schemas.openxmlformats.org/officeDocument/2006/relationships/slide" Target="slides/slide10.xml"/>
<Relationship Id="rId12" Type="http://schemas.openxmlformats.org/officeDocument/2006/relationships/slide" Target="slides/slide11.xml"/>
<Relationship Id="rId13" Type="http://schemas.openxmlformats.org/officeDocument/2006/relationships/slide" Target="slides/slide12.xml"/>
<Relationship Id="rId14" Type="http://schemas.openxmlformats.org/officeDocument/2006/relationships/slide" Target="slides/slide13.xml"/>
<Relationship Id="rId15" Type="http://schemas.openxmlformats.org/officeDocument/2006/relationships/slide" Target="slides/slide14.xml"/>
<Relationship Id="rId16" Type="http://schemas.openxmlformats.org/officeDocument/2006/relationships/slide" Target="slides/slide15.xml"/>
<Relationship Id="rId17" Type="http://schemas.openxmlformats.org/officeDocument/2006/relationships/slide" Target="slides/slide16.xml"/>
<Relationship Id="rId18" Type="http://schemas.openxmlformats.org/officeDocument/2006/relationships/slide" Target="slides/slide17.xml"/>
<Relationship Id="rId19" Type="http://schemas.openxmlformats.org/officeDocument/2006/relationships/slide" Target="slides/slide18.xml"/>
<Relationship Id="rId20" Type="http://schemas.openxmlformats.org/officeDocument/2006/relationships/slide" Target="slides/slide19.xml"/>
<Relationship Id="rId21" Type="http://schemas.openxmlformats.org/officeDocument/2006/relationships/slide" Target="slides/slide20.xml"/>
<Relationship Id="rId22" Type="http://schemas.openxmlformats.org/officeDocument/2006/relationships/slide" Target="slides/slide21.xml"/>
<Relationship Id="rId23" Type="http://schemas.openxmlformats.org/officeDocument/2006/relationships/slide" Target="slides/slide22.xml"/>
<Relationship Id="rId24" Type="http://schemas.openxmlformats.org/officeDocument/2006/relationships/slide" Target="slides/slide23.xml"/>
<Relationship Id="rId25" Type="http://schemas.openxmlformats.org/officeDocument/2006/relationships/slide" Target="slides/slide24.xml"/>
<Relationship Id="rId26" Type="http://schemas.openxmlformats.org/officeDocument/2006/relationships/slide" Target="slides/slide25.xml"/>
<Relationship Id="rId27" Type="http://schemas.openxmlformats.org/officeDocument/2006/relationships/slide" Target="slides/slide26.xml"/>
<Relationship Id="rId28" Type="http://schemas.openxmlformats.org/officeDocument/2006/relationships/slide" Target="slides/slide27.xml"/>
<Relationship Id="rId29" Type="http://schemas.openxmlformats.org/officeDocument/2006/relationships/slide" Target="slides/slide28.xml"/>
<Relationship Id="rId30" Type="http://schemas.openxmlformats.org/officeDocument/2006/relationships/slide" Target="slides/slide29.xml"/>
<Relationship Id="rId31" Type="http://schemas.openxmlformats.org/officeDocument/2006/relationships/slide" Target="slides/slide30.xml"/>
<Relationship Id="rId32" Type="http://schemas.openxmlformats.org/officeDocument/2006/relationships/slide" Target="slides/slide31.xml"/>
<Relationship Id="rId33" Type="http://schemas.openxmlformats.org/officeDocument/2006/relationships/slide" Target="slides/slide32.xml"/>
<Relationship Id="rId34" Type="http://schemas.openxmlformats.org/officeDocument/2006/relationships/slide" Target="slides/slide33.xml"/>
<Relationship Id="rId35" Type="http://schemas.openxmlformats.org/officeDocument/2006/relationships/slide" Target="slides/slide34.xml"/>
<Relationship Id="rId36" Type="http://schemas.openxmlformats.org/officeDocument/2006/relationships/slide" Target="slides/slide35.xml"/>
<Relationship Id="rId37" Type="http://schemas.openxmlformats.org/officeDocument/2006/relationships/slide" Target="slides/slide36.xml"/>
<Relationship Id="rId38" Type="http://schemas.openxmlformats.org/officeDocument/2006/relationships/slide" Target="slides/slide37.xml"/>
<Relationship Id="rId39" Type="http://schemas.openxmlformats.org/officeDocument/2006/relationships/slide" Target="slides/slide38.xml"/>
<Relationship Id="rId40" Type="http://schemas.openxmlformats.org/officeDocument/2006/relationships/slide" Target="slides/slide39.xml"/>
<Relationship Id="rId41" Type="http://schemas.openxmlformats.org/officeDocument/2006/relationships/slide" Target="slides/slide40.xml"/>
<Relationship Id="rId42" Type="http://schemas.openxmlformats.org/officeDocument/2006/relationships/slide" Target="slides/slide41.xml"/>
<Relationship Id="rId43" Type="http://schemas.openxmlformats.org/officeDocument/2006/relationships/slide" Target="slides/slide42.xml"/>
<Relationship Id="rId44" Type="http://schemas.openxmlformats.org/officeDocument/2006/relationships/slide" Target="slides/slide43.xml"/>
<Relationship Id="rId45" Type="http://schemas.openxmlformats.org/officeDocument/2006/relationships/slide" Target="slides/slide44.xml"/>
<Relationship Id="rId46" Type="http://schemas.openxmlformats.org/officeDocument/2006/relationships/notesMaster" Target="notesMasters/notesMaster1.xml"/>
<Relationship Id="rId47" Type="http://schemas.openxmlformats.org/officeDocument/2006/relationships/handoutMaster" Target="handoutMasters/handoutMaster1.xml"/>
<Relationship Id="rId48" Type="http://schemas.openxmlformats.org/officeDocument/2006/relationships/presProps" Target="presProps.xml"/>
<Relationship Id="rId49" Type="http://schemas.openxmlformats.org/officeDocument/2006/relationships/viewProps" Target="viewProps.xml"/>
<Relationship Id="rId50" Type="http://schemas.openxmlformats.org/officeDocument/2006/relationships/theme" Target="theme/theme1.xml"/>
<Relationship Id="rId51" Type="http://schemas.openxmlformats.org/officeDocument/2006/relationships/tableStyles" Target="tableStyles.xml"/>
</Relationships>
</file>

<file path=ppt/handoutMasters/_rels/handoutMaster1.xml.rels><?xml version="1.0" encoding="UTF-8" standalone="yes"?>
<Relationships xmlns="http://schemas.openxmlformats.org/package/2006/relationships">
<Relationship Id="rId1" Type="http://schemas.openxmlformats.org/officeDocument/2006/relationships/theme" Target="../theme/theme3.xml"/>
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>
            <a:spLocks noGrp="1"/>
          </p:cNvSpPr>
          <p:nvPr>
            <p:ph type="hdr"/>
          </p:nvPr>
        </p:nvSpPr>
        <p:spPr/>
        <p:txBody>
          <a:bodyPr/>
          <a:lstStyle/>
          <a:p>
            <a:r>
              <a:t>Q1 2025 Strategy Review</a:t>
            </a:r>
          </a:p>
        </p:txBody>
      </p:sp>
      <p:sp>
        <p:nvSpPr>
          <p:cNvPr id="3" name="Footer"/>
          <p:cNvSpPr>
            <a:spLocks noGrp="1"/>
          </p:cNvSpPr>
          <p:nvPr>
            <p:ph type="ftr"/>
          </p:nvPr>
        </p:nvSpPr>
        <p:spPr/>
        <p:txBody>
          <a:bodyPr/>
          <a:lstStyle/>
          <a:p>
            <a:r>
              <a:t>Confidential - Internal Use Only</a:t>
            </a:r>
          </a:p>
        </p:txBody>
      </p:sp>
      <p:sp>
        <p:nvSpPr>
          <p:cNvPr id="4" name="Date"/>
          <p:cNvSpPr>
            <a:spLocks noGrp="1"/>
          </p:cNvSpPr>
          <p:nvPr>
            <p:ph type="dt"/>
          </p:nvPr>
        </p:nvSpPr>
        <p:spPr/>
        <p:txBody>
          <a:bodyPr/>
          <a:lstStyle/>
          <a:p>
            <a:fld id="{B6F15528-F159-4107-2D14-000000000000}" type="datetimeFigureOut">
              <a:t/>
            </a:fld>
            <a:endParaRPr/>
          </a:p>
        </p:txBody>
      </p:sp>
      <p:sp>
        <p:nvSpPr>
          <p:cNvPr id="5" name="Slide Number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B6F15528-F159-4107-2D14-000000000001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
<Relationships xmlns="http://schemas.openxmlformats.org/package/2006/relationships">
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Image Placeholder 2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
<Relationship Id="rId1" Type="http://schemas.openxmlformats.org/officeDocument/2006/relationships/slide" Target="../slides/slide30.xml"/>
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1. Emphasize the progress made
2. Highlight key achievements
3. Address any concerns about timeline
4. Open for Q&amp;A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E4A5D7-2C3F-4A8B-9E1D-00000000001E}" type="slidenum">
              <a:rPr lang="en-US"/>
              <a:t>30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828800"/>
            <a:ext cx="6096000" cy="1828800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/>
          </p:nvPr>
        </p:nvSpPr>
        <p:spPr>
          <a:xfrm>
            <a:off x="1524000" y="3657600"/>
            <a:ext cx="6096000" cy="914400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hf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hf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  <p:sp>
        <p:nvSpPr>
          <p:cNvPr id="3" name="Content Lef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25400" cy="4525963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  <p:sp>
        <p:nvSpPr>
          <p:cNvPr id="4" name="Content Right"/>
          <p:cNvSpPr>
            <a:spLocks noGrp="1"/>
          </p:cNvSpPr>
          <p:nvPr>
            <p:ph type="body" idx="2"/>
          </p:nvPr>
        </p:nvSpPr>
        <p:spPr>
          <a:xfrm>
            <a:off x="4661400" y="1600200"/>
            <a:ext cx="4025400" cy="4525963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hf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1600200"/>
            <a:ext cx="8229600" cy="1828800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body" idx="1"/>
          </p:nvPr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hf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hf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00000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200000"/>
            <a:ext cx="8229600" cy="5000000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hf/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slideLayout" Target="../slideLayouts/slideLayout7.xml"/>
<Relationship Id="rId8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/>
          </p:nvPr>
        </p:nvSpPr>
        <p:spPr>
          <a:xfrm>
            <a:off x="312420" y="213360"/>
            <a:ext cx="8519760" cy="365125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Confidential - Internal Use Only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sz="half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</p:spPr>
        <p:txBody>
          <a:bodyPr/>
          <a:lstStyle/>
          <a:p>
            <a:fld id="{B6F15528-F159-4107-2D14-000000000000}" type="datetimeFigureOut">
              <a:rPr lang="en-US" sz="1200"/>
              <a:t>6/1/2026</a:t>
            </a:fld>
            <a:endParaRPr lang="en-US" sz="1200"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/>
          </p:nvPr>
        </p:nvSpPr>
        <p:spPr>
          <a:xfrm>
            <a:off x="8610600" y="6356350"/>
            <a:ext cx="533400" cy="365125"/>
          </a:xfrm>
          <a:prstGeom prst="rect">
            <a:avLst/>
          </a:prstGeom>
          <a:noFill/>
        </p:spPr>
        <p:txBody>
          <a:bodyPr/>
          <a:lstStyle/>
          <a:p>
            <a:fld id="{B6F15528-F159-4107-2D14-000000000001}" type="slidenum">
              <a:rPr lang="en-US" sz="1200"/>
              <a:t>‹#›</a:t>
            </a:fld>
            <a:endParaRPr 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6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7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3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5.xm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1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image1.png"/>
<Relationship Id="rId3" Type="http://schemas.openxmlformats.org/officeDocument/2006/relationships/image" Target="../media/image2.jpg"/>
<Relationship Id="rId4" Type="http://schemas.openxmlformats.org/officeDocument/2006/relationships/image" Target="../media/image3.jpg"/>
</Relationships>
</file>

<file path=ppt/slides/_rels/slide1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image1.png"/>
<Relationship Id="rId3" Type="http://schemas.openxmlformats.org/officeDocument/2006/relationships/image" Target="../media/image2.jpg"/>
<Relationship Id="rId4" Type="http://schemas.openxmlformats.org/officeDocument/2006/relationships/image" Target="../media/image3.jpg"/>
</Relationships>
</file>

<file path=ppt/slides/_rels/slide1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image1.png"/>
<Relationship Id="rId3" Type="http://schemas.openxmlformats.org/officeDocument/2006/relationships/image" Target="../media/image2.jpg"/>
<Relationship Id="rId4" Type="http://schemas.openxmlformats.org/officeDocument/2006/relationships/image" Target="../media/image3.jpg"/>
</Relationships>
</file>

<file path=ppt/slides/_rels/slide1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image1.png"/>
<Relationship Id="rId3" Type="http://schemas.openxmlformats.org/officeDocument/2006/relationships/image" Target="../media/image2.jpg"/>
<Relationship Id="rId4" Type="http://schemas.openxmlformats.org/officeDocument/2006/relationships/image" Target="../media/image3.jpg"/>
</Relationships>
</file>

<file path=ppt/slides/_rels/slide1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image1.png"/>
<Relationship Id="rId3" Type="http://schemas.openxmlformats.org/officeDocument/2006/relationships/image" Target="../media/image2.jpg"/>
<Relationship Id="rId4" Type="http://schemas.openxmlformats.org/officeDocument/2006/relationships/image" Target="../media/image3.jpg"/>
</Relationships>
</file>

<file path=ppt/slides/_rels/slide1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image1.png"/>
<Relationship Id="rId3" Type="http://schemas.openxmlformats.org/officeDocument/2006/relationships/image" Target="../media/image2.jpg"/>
<Relationship Id="rId4" Type="http://schemas.openxmlformats.org/officeDocument/2006/relationships/image" Target="../media/image3.jpg"/>
</Relationships>
</file>

<file path=ppt/slides/_rels/slide1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image1.png"/>
<Relationship Id="rId3" Type="http://schemas.openxmlformats.org/officeDocument/2006/relationships/image" Target="../media/image2.jpg"/>
<Relationship Id="rId4" Type="http://schemas.openxmlformats.org/officeDocument/2006/relationships/image" Target="../media/image3.jpg"/>
</Relationships>
</file>

<file path=ppt/slides/_rels/slide2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image1.png"/>
<Relationship Id="rId3" Type="http://schemas.openxmlformats.org/officeDocument/2006/relationships/image" Target="../media/image2.jpg"/>
<Relationship Id="rId4" Type="http://schemas.openxmlformats.org/officeDocument/2006/relationships/image" Target="../media/image3.jpg"/>
</Relationships>
</file>

<file path=ppt/slides/_rels/slide2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2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2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2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2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2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2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2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2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3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notesSlide" Target="../notesSlides/notesSlide1.xml"/>
</Relationships>
</file>

<file path=ppt/slides/_rels/slide3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3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3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3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3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3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3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3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3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4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4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4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4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_rels/slide4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3200"/>
            <a:ext cx="82302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5400" b="1" i="0" dirty="0">
                <a:solidFill>
                  <a:srgbClr val="1F497D"/>
                </a:solidFill>
              </a:rPr>
              <a:t>PPTX-RS Element Showcase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800" b="1" i="0" dirty="0">
                <a:solidFill>
                  <a:srgbClr val="C0504D"/>
                </a:solidFill>
              </a:rPr>
              <a:t>Section: Slide Layouts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1" dirty="0" u="sng">
                <a:solidFill>
                  <a:srgbClr val="1F497D"/>
                </a:solidFill>
              </a:rPr>
              <a:t>Text Formatting Options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2800" b="1" i="1" dirty="0">
                <a:solidFill>
                  <a:srgbClr val="4F81BD"/>
                </a:solidFill>
              </a:rPr>
              <a:t>Normal text (default)</a:t>
            </a:r>
          </a:p>
          <a:p>
            <a:pPr lvl="0" marL="457200" indent="-457200">
              <a:buChar char="•"/>
            </a:pPr>
            <a:r>
              <a:rPr lang="en-US" sz="2800" b="1" i="1" dirty="0">
                <a:solidFill>
                  <a:srgbClr val="4F81BD"/>
                </a:solidFill>
              </a:rPr>
              <a:t>Bold content text</a:t>
            </a:r>
          </a:p>
          <a:p>
            <a:pPr lvl="0" marL="457200" indent="-457200">
              <a:buChar char="•"/>
            </a:pPr>
            <a:r>
              <a:rPr lang="en-US" sz="2800" b="1" i="1" dirty="0">
                <a:solidFill>
                  <a:srgbClr val="4F81BD"/>
                </a:solidFill>
              </a:rPr>
              <a:t>Italic content text</a:t>
            </a:r>
          </a:p>
          <a:p>
            <a:pPr lvl="0" marL="457200" indent="-457200">
              <a:buChar char="•"/>
            </a:pPr>
            <a:r>
              <a:rPr lang="en-US" sz="2800" b="1" i="1" dirty="0">
                <a:solidFill>
                  <a:srgbClr val="4F81BD"/>
                </a:solidFill>
              </a:rPr>
              <a:t>Underlined content</a:t>
            </a:r>
          </a:p>
          <a:p>
            <a:pPr lvl="0" marL="457200" indent="-457200">
              <a:buChar char="•"/>
            </a:pPr>
            <a:r>
              <a:rPr lang="en-US" sz="2800" b="1" i="1" dirty="0">
                <a:solidFill>
                  <a:srgbClr val="4F81BD"/>
                </a:solidFill>
              </a:rPr>
              <a:t>Custom font size (28pt)</a:t>
            </a:r>
          </a:p>
          <a:p>
            <a:pPr lvl="0" marL="457200" indent="-457200">
              <a:buChar char="•"/>
            </a:pPr>
            <a:r>
              <a:rPr lang="en-US" sz="2800" b="1" i="1" dirty="0">
                <a:solidFill>
                  <a:srgbClr val="4F81BD"/>
                </a:solidFill>
              </a:rPr>
              <a:t>Custom color (#4F81BD)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Key Highlights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189200"/>
            <a:ext cx="8230200" cy="56688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3200" b="1" i="0" dirty="0"/>
              <a:t>Large content area for emphasis</a:t>
            </a:r>
          </a:p>
          <a:p>
            <a:pPr lvl="0" marL="457200" indent="-457200">
              <a:buChar char="•"/>
            </a:pPr>
            <a:r>
              <a:rPr lang="en-US" sz="3200" b="1" i="0" dirty="0"/>
              <a:t>Perfect for key messages</a:t>
            </a:r>
          </a:p>
          <a:p>
            <a:pPr lvl="0" marL="457200" indent="-457200">
              <a:buChar char="•"/>
            </a:pPr>
            <a:r>
              <a:rPr lang="en-US" sz="3200" b="1" i="0" dirty="0"/>
              <a:t>Smaller title, bigger content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Two Column Comparison</a:t>
            </a:r>
          </a:p>
        </p:txBody>
      </p:sp>
      <p:sp>
        <p:nvSpPr>
          <p:cNvPr id="3" name="Left Content"/>
          <p:cNvSpPr txBox="1"/>
          <p:nvPr/>
        </p:nvSpPr>
        <p:spPr>
          <a:xfrm>
            <a:off x="457200" y="1189200"/>
            <a:ext cx="4115100" cy="56688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2400" b="0" i="0" dirty="0"/>
              <a:t>Left Column Item 1</a:t>
            </a:r>
          </a:p>
          <a:p>
            <a:pPr lvl="0" marL="457200" indent="-457200">
              <a:buChar char="•"/>
            </a:pPr>
            <a:r>
              <a:rPr lang="en-US" sz="2400" b="0" i="0" dirty="0"/>
              <a:t>Left Column Item 2</a:t>
            </a:r>
          </a:p>
          <a:p>
            <a:pPr lvl="0" marL="457200" indent="-457200">
              <a:buChar char="•"/>
            </a:pPr>
            <a:r>
              <a:rPr lang="en-US" sz="2400" b="0" i="0" dirty="0"/>
              <a:t>Left Column Item 3</a:t>
            </a:r>
          </a:p>
        </p:txBody>
      </p:sp>
      <p:sp>
        <p:nvSpPr>
          <p:cNvPr id="4" name="Right Content"/>
          <p:cNvSpPr txBox="1"/>
          <p:nvPr/>
        </p:nvSpPr>
        <p:spPr>
          <a:xfrm>
            <a:off x="4572300" y="1189200"/>
            <a:ext cx="4115100" cy="56688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2400" b="0" i="0" dirty="0"/>
              <a:t>Right Column Item 1</a:t>
            </a:r>
          </a:p>
          <a:p>
            <a:pPr lvl="0" marL="457200" indent="-457200">
              <a:buChar char="•"/>
            </a:pPr>
            <a:r>
              <a:rPr lang="en-US" sz="2400" b="0" i="0" dirty="0"/>
              <a:t>Right Column Item 2</a:t>
            </a:r>
          </a:p>
          <a:p>
            <a:pPr lvl="0" marL="457200" indent="-457200">
              <a:buChar char="•"/>
            </a:pPr>
            <a:r>
              <a:rPr lang="en-US" sz="2400" b="0" i="0" dirty="0"/>
              <a:t>Right Column Item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Table with Cell Styling</a:t>
            </a:r>
          </a:p>
        </p:txBody>
      </p:sp>
      <p:graphicFrame>
        <p:nvGraphicFramePr>
          <p:cNvPr id="3" name="Table 3"/>
          <p:cNvGraphicFramePr/>
          <p:nvPr/>
        </p:nvGraphicFramePr>
        <p:xfrm>
          <a:off x="500000" y="1800000"/>
          <a:ext cx="4500000" cy="1600000"/>
        </p:xfrm>
        <a:graphic>
          <a:graphicData uri="http://schemas.openxmlformats.org/drawingml/2006/table">
            <a:tbl>
              <a:tblPr firstRow="1" bandRow="1"/>
              <a:tblGrid>
                <a:gridCol w="1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r>
                        <a:rPr lang="en-US" dirty="0" b="1"/>
                        <a:t>Header 1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/>
                        <a:t>Header 2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/>
                        <a:t>Header 3</a:t>
                      </a:r>
                    </a:p>
                  </a:txBody>
                  <a:tcPr>
                    <a:solidFill>
                      <a:srgbClr val="8064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 b="1"/>
                        <a:t>Bold 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Normal 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Colored</a:t>
                      </a:r>
                    </a:p>
                  </a:txBody>
                  <a:tcPr>
                    <a:solidFill>
                      <a:srgbClr val="9BBB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/>
                        <a:t>Red BG</a:t>
                      </a:r>
                    </a:p>
                  </a:txBody>
                  <a:tcPr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Green BG</a:t>
                      </a:r>
                    </a:p>
                  </a:txBody>
                  <a:tcP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Blue BG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/>
                        <a:t>Row 3 Col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Row 3 Col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b="1"/>
                        <a:t>Row 3 Col 3</a:t>
                      </a:r>
                    </a:p>
                  </a:txBody>
                  <a:tcPr>
                    <a:solidFill>
                      <a:srgbClr val="F796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Chart Types: Bar, Line, Pie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2400" b="0" i="0" dirty="0"/>
              <a:t>Bar Chart: Compare categories</a:t>
            </a:r>
          </a:p>
          <a:p>
            <a:pPr lvl="0" marL="457200" indent="-457200">
              <a:buChar char="•"/>
            </a:pPr>
            <a:r>
              <a:rPr lang="en-US" sz="2400" b="0" i="0" dirty="0"/>
              <a:t>Line Chart: Show trends over time</a:t>
            </a:r>
          </a:p>
          <a:p>
            <a:pPr lvl="0" marL="457200" indent="-457200">
              <a:buChar char="•"/>
            </a:pPr>
            <a:r>
              <a:rPr lang="en-US" sz="2400" b="0" i="0" dirty="0"/>
              <a:t>Pie Chart: Show proportions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Shape Types with Color Fills</a:t>
            </a:r>
          </a:p>
        </p:txBody>
      </p:sp>
      <p:sp>
        <p:nvSpPr>
          <p:cNvPr id="10" name="Shape 10"/>
          <p:cNvSpPr/>
          <p:nvPr/>
        </p:nvSpPr>
        <p:spPr>
          <a:xfrm>
            <a:off x="457200" y="1600200"/>
            <a:ext cx="2011680" cy="1005840"/>
          </a:xfrm>
          <a:prstGeom prst="rect">
            <a:avLst/>
          </a:prstGeom>
          <a:solidFill>
            <a:srgbClr val="4F81BD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3200" dirty="0">
                <a:solidFill>
                  <a:srgbClr val="FFFFFF"/>
                </a:solidFill>
              </a:rPr>
              <a:t>Rectangle</a:t>
            </a:r>
          </a:p>
        </p:txBody>
      </p:sp>
      <p:sp>
        <p:nvSpPr>
          <p:cNvPr id="11" name="Shape 11"/>
          <p:cNvSpPr/>
          <p:nvPr/>
        </p:nvSpPr>
        <p:spPr>
          <a:xfrm>
            <a:off x="3017520" y="1600200"/>
            <a:ext cx="2011680" cy="1005840"/>
          </a:xfrm>
          <a:prstGeom prst="ellipse">
            <a:avLst/>
          </a:prstGeom>
          <a:solidFill>
            <a:srgbClr val="9BBB59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4114" dirty="0">
                <a:solidFill>
                  <a:srgbClr val="000000"/>
                </a:solidFill>
              </a:rPr>
              <a:t>Ellipse</a:t>
            </a:r>
          </a:p>
        </p:txBody>
      </p:sp>
      <p:sp>
        <p:nvSpPr>
          <p:cNvPr id="12" name="Shape 12"/>
          <p:cNvSpPr/>
          <p:nvPr/>
        </p:nvSpPr>
        <p:spPr>
          <a:xfrm>
            <a:off x="5486400" y="1600200"/>
            <a:ext cx="2011680" cy="1005840"/>
          </a:xfrm>
          <a:prstGeom prst="roundRect">
            <a:avLst/>
          </a:prstGeom>
          <a:solidFill>
            <a:srgbClr val="C0504D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4114" dirty="0">
                <a:solidFill>
                  <a:srgbClr val="FFFFFF"/>
                </a:solidFill>
              </a:rPr>
              <a:t>Rounded</a:t>
            </a:r>
          </a:p>
        </p:txBody>
      </p:sp>
      <p:sp>
        <p:nvSpPr>
          <p:cNvPr id="13" name="Shape 13"/>
          <p:cNvSpPr/>
          <p:nvPr/>
        </p:nvSpPr>
        <p:spPr>
          <a:xfrm>
            <a:off x="1463040" y="3017520"/>
            <a:ext cx="1463040" cy="1188720"/>
          </a:xfrm>
          <a:prstGeom prst="triangle">
            <a:avLst/>
          </a:prstGeom>
          <a:solidFill>
            <a:srgbClr val="8064A2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2520" dirty="0">
                <a:solidFill>
                  <a:srgbClr val="FFFFFF"/>
                </a:solidFill>
              </a:rPr>
              <a:t>Triangle</a:t>
            </a:r>
          </a:p>
        </p:txBody>
      </p:sp>
      <p:sp>
        <p:nvSpPr>
          <p:cNvPr id="14" name="Shape 14"/>
          <p:cNvSpPr/>
          <p:nvPr/>
        </p:nvSpPr>
        <p:spPr>
          <a:xfrm>
            <a:off x="4023360" y="3017520"/>
            <a:ext cx="1463040" cy="1188720"/>
          </a:xfrm>
          <a:prstGeom prst="diamond">
            <a:avLst/>
          </a:prstGeom>
          <a:solidFill>
            <a:srgbClr val="F79646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2880" dirty="0">
                <a:solidFill>
                  <a:srgbClr val="000000"/>
                </a:solidFill>
              </a:rPr>
              <a:t>Diamond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Gradient Fills - Multiple Directions</a:t>
            </a:r>
          </a:p>
        </p:txBody>
      </p:sp>
      <p:sp>
        <p:nvSpPr>
          <p:cNvPr id="10" name="Shape 10"/>
          <p:cNvSpPr/>
          <p:nvPr/>
        </p:nvSpPr>
        <p:spPr>
          <a:xfrm>
            <a:off x="457200" y="1600200"/>
            <a:ext cx="2468880" cy="118872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2A5F5"/>
              </a:gs>
            </a:gsLst>
            <a:lin ang="0" scaled="1"/>
          </a:gra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3600" dirty="0">
                <a:solidFill>
                  <a:srgbClr val="000000"/>
                </a:solidFill>
              </a:rPr>
              <a:t>Horizontal</a:t>
            </a:r>
          </a:p>
        </p:txBody>
      </p:sp>
      <p:sp>
        <p:nvSpPr>
          <p:cNvPr id="11" name="Shape 11"/>
          <p:cNvSpPr/>
          <p:nvPr/>
        </p:nvSpPr>
        <p:spPr>
          <a:xfrm>
            <a:off x="3200400" y="1600200"/>
            <a:ext cx="2468880" cy="1188720"/>
          </a:xfrm>
          <a:prstGeom prst="rect">
            <a:avLst/>
          </a:prstGeom>
          <a:gradFill>
            <a:gsLst>
              <a:gs pos="0">
                <a:srgbClr val="2E7D32"/>
              </a:gs>
              <a:gs pos="100000">
                <a:srgbClr val="81C784"/>
              </a:gs>
            </a:gsLst>
            <a:lin ang="5400000" scaled="1"/>
          </a:gra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4500" dirty="0">
                <a:solidFill>
                  <a:srgbClr val="000000"/>
                </a:solidFill>
              </a:rPr>
              <a:t>Vertical</a:t>
            </a:r>
          </a:p>
        </p:txBody>
      </p:sp>
      <p:sp>
        <p:nvSpPr>
          <p:cNvPr id="12" name="Shape 12"/>
          <p:cNvSpPr/>
          <p:nvPr/>
        </p:nvSpPr>
        <p:spPr>
          <a:xfrm>
            <a:off x="5943600" y="1600200"/>
            <a:ext cx="2468880" cy="1188720"/>
          </a:xfrm>
          <a:prstGeom prst="roundRect">
            <a:avLst/>
          </a:prstGeom>
          <a:gradFill>
            <a:gsLst>
              <a:gs pos="0">
                <a:srgbClr val="C62828"/>
              </a:gs>
              <a:gs pos="100000">
                <a:srgbClr val="EF9A9A"/>
              </a:gs>
            </a:gsLst>
            <a:lin ang="2700000" scaled="1"/>
          </a:gra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4500" dirty="0">
                <a:solidFill>
                  <a:srgbClr val="000000"/>
                </a:solidFill>
              </a:rPr>
              <a:t>Diagonal</a:t>
            </a:r>
          </a:p>
        </p:txBody>
      </p:sp>
      <p:sp>
        <p:nvSpPr>
          <p:cNvPr id="13" name="Shape 13"/>
          <p:cNvSpPr/>
          <p:nvPr/>
        </p:nvSpPr>
        <p:spPr>
          <a:xfrm>
            <a:off x="1828800" y="3200400"/>
            <a:ext cx="2468880" cy="1188720"/>
          </a:xfrm>
          <a:prstGeom prst="ellipse">
            <a:avLst/>
          </a:prstGeom>
          <a:gradFill>
            <a:gsLst>
              <a:gs pos="0">
                <a:srgbClr val="FF6F00"/>
              </a:gs>
              <a:gs pos="50000">
                <a:srgbClr val="FFC107"/>
              </a:gs>
              <a:gs pos="100000">
                <a:srgbClr val="FFEB3B"/>
              </a:gs>
            </a:gsLst>
            <a:lin ang="0" scaled="1"/>
          </a:gra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5142" dirty="0">
                <a:solidFill>
                  <a:srgbClr val="000000"/>
                </a:solidFill>
              </a:rPr>
              <a:t>3-Color</a:t>
            </a:r>
          </a:p>
        </p:txBody>
      </p:sp>
      <p:sp>
        <p:nvSpPr>
          <p:cNvPr id="14" name="Shape 14"/>
          <p:cNvSpPr/>
          <p:nvPr/>
        </p:nvSpPr>
        <p:spPr>
          <a:xfrm>
            <a:off x="4754880" y="3200400"/>
            <a:ext cx="2468880" cy="1188720"/>
          </a:xfrm>
          <a:prstGeom prst="roundRect">
            <a:avLst/>
          </a:prstGeom>
          <a:gradFill>
            <a:gsLst>
              <a:gs pos="0">
                <a:srgbClr val="7B1FA2"/>
              </a:gs>
              <a:gs pos="100000">
                <a:srgbClr val="E1BEE7"/>
              </a:gs>
            </a:gsLst>
            <a:lin ang="8100000" scaled="1"/>
          </a:gra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3600" dirty="0">
                <a:solidFill>
                  <a:srgbClr val="000000"/>
                </a:solidFill>
              </a:rPr>
              <a:t>135° Angle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Transparency Effects - Overlapping Shapes</a:t>
            </a:r>
          </a:p>
        </p:txBody>
      </p:sp>
      <p:sp>
        <p:nvSpPr>
          <p:cNvPr id="10" name="Shape 10"/>
          <p:cNvSpPr/>
          <p:nvPr/>
        </p:nvSpPr>
        <p:spPr>
          <a:xfrm>
            <a:off x="1005840" y="1828800"/>
            <a:ext cx="3017520" cy="2011680"/>
          </a:xfrm>
          <a:prstGeom prst="rect">
            <a:avLst/>
          </a:prstGeom>
          <a:solidFill>
            <a:srgbClr val="1565C0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4058" dirty="0">
                <a:solidFill>
                  <a:srgbClr val="FFFFFF"/>
                </a:solidFill>
              </a:rPr>
              <a:t>Base (100%)</a:t>
            </a:r>
          </a:p>
        </p:txBody>
      </p:sp>
      <p:sp>
        <p:nvSpPr>
          <p:cNvPr id="11" name="Shape 11"/>
          <p:cNvSpPr/>
          <p:nvPr/>
        </p:nvSpPr>
        <p:spPr>
          <a:xfrm>
            <a:off x="2011680" y="2194560"/>
            <a:ext cx="2468880" cy="1463040"/>
          </a:xfrm>
          <a:prstGeom prst="rect">
            <a:avLst/>
          </a:prstGeom>
          <a:solidFill>
            <a:srgbClr val="F44336"/>
          </a:solidFill>
          <a:ln w="25400">
            <a:solidFill>
              <a:srgbClr val="B71C1C"/>
            </a:solidFill>
          </a:ln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2400" dirty="0">
                <a:solidFill>
                  <a:srgbClr val="FFFFFF"/>
                </a:solidFill>
              </a:rPr>
              <a:t>25% Transparent</a:t>
            </a:r>
          </a:p>
        </p:txBody>
      </p:sp>
      <p:sp>
        <p:nvSpPr>
          <p:cNvPr id="12" name="Shape 12"/>
          <p:cNvSpPr/>
          <p:nvPr/>
        </p:nvSpPr>
        <p:spPr>
          <a:xfrm>
            <a:off x="4480560" y="1828800"/>
            <a:ext cx="2468880" cy="2011680"/>
          </a:xfrm>
          <a:prstGeom prst="ellipse">
            <a:avLst/>
          </a:prstGeom>
          <a:solidFill>
            <a:srgbClr val="4CAF50"/>
          </a:solidFill>
          <a:ln w="25400">
            <a:solidFill>
              <a:srgbClr val="1B5E20"/>
            </a:solidFill>
          </a:ln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2400" dirty="0">
                <a:solidFill>
                  <a:srgbClr val="000000"/>
                </a:solidFill>
              </a:rPr>
              <a:t>50% Transparent</a:t>
            </a:r>
          </a:p>
        </p:txBody>
      </p:sp>
      <p:sp>
        <p:nvSpPr>
          <p:cNvPr id="13" name="Shape 13"/>
          <p:cNvSpPr/>
          <p:nvPr/>
        </p:nvSpPr>
        <p:spPr>
          <a:xfrm>
            <a:off x="5486400" y="2468880"/>
            <a:ext cx="2468880" cy="1463040"/>
          </a:xfrm>
          <a:prstGeom prst="roundRect">
            <a:avLst/>
          </a:prstGeom>
          <a:solidFill>
            <a:srgbClr val="FF9800"/>
          </a:solidFill>
          <a:ln w="25400">
            <a:solidFill>
              <a:srgbClr val="E65100"/>
            </a:solidFill>
          </a:ln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2400" dirty="0">
                <a:solidFill>
                  <a:srgbClr val="000000"/>
                </a:solidFill>
              </a:rPr>
              <a:t>75% Transparent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Styled Connectors - Types, Arrows, Dashes</a:t>
            </a:r>
          </a:p>
        </p:txBody>
      </p:sp>
      <p:sp>
        <p:nvSpPr>
          <p:cNvPr id="100" name="Shape 100"/>
          <p:cNvSpPr/>
          <p:nvPr/>
        </p:nvSpPr>
        <p:spPr>
          <a:xfrm>
            <a:off x="457200" y="1828800"/>
            <a:ext cx="1828800" cy="822960"/>
          </a:xfrm>
          <a:prstGeom prst="roundRect">
            <a:avLst/>
          </a:prstGeom>
          <a:solidFill>
            <a:srgbClr val="1565C0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4382" dirty="0">
                <a:solidFill>
                  <a:srgbClr val="FFFFFF"/>
                </a:solidFill>
              </a:rPr>
              <a:t>Start</a:t>
            </a:r>
          </a:p>
        </p:txBody>
      </p:sp>
      <p:sp>
        <p:nvSpPr>
          <p:cNvPr id="101" name="Shape 101"/>
          <p:cNvSpPr/>
          <p:nvPr/>
        </p:nvSpPr>
        <p:spPr>
          <a:xfrm>
            <a:off x="3474720" y="1828800"/>
            <a:ext cx="1828800" cy="822960"/>
          </a:xfrm>
          <a:prstGeom prst="roundRect">
            <a:avLst/>
          </a:prstGeom>
          <a:solidFill>
            <a:srgbClr val="2E7D32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3702" dirty="0">
                <a:solidFill>
                  <a:srgbClr val="FFFFFF"/>
                </a:solidFill>
              </a:rPr>
              <a:t>Process</a:t>
            </a:r>
          </a:p>
        </p:txBody>
      </p:sp>
      <p:sp>
        <p:nvSpPr>
          <p:cNvPr id="102" name="Shape 102"/>
          <p:cNvSpPr/>
          <p:nvPr/>
        </p:nvSpPr>
        <p:spPr>
          <a:xfrm>
            <a:off x="6492240" y="1828800"/>
            <a:ext cx="1828800" cy="822960"/>
          </a:xfrm>
          <a:prstGeom prst="roundRect">
            <a:avLst/>
          </a:prstGeom>
          <a:solidFill>
            <a:srgbClr val="C62828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4382" dirty="0">
                <a:solidFill>
                  <a:srgbClr val="FFFFFF"/>
                </a:solidFill>
              </a:rPr>
              <a:t>End</a:t>
            </a:r>
          </a:p>
        </p:txBody>
      </p:sp>
      <p:sp>
        <p:nvSpPr>
          <p:cNvPr id="103" name="Shape 103"/>
          <p:cNvSpPr/>
          <p:nvPr/>
        </p:nvSpPr>
        <p:spPr>
          <a:xfrm>
            <a:off x="1005840" y="3200400"/>
            <a:ext cx="1463040" cy="822960"/>
          </a:xfrm>
          <a:prstGeom prst="ellipse">
            <a:avLst/>
          </a:prstGeom>
          <a:solidFill>
            <a:srgbClr val="7B1FA2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4382" dirty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04" name="Shape 104"/>
          <p:cNvSpPr/>
          <p:nvPr/>
        </p:nvSpPr>
        <p:spPr>
          <a:xfrm>
            <a:off x="4023360" y="3200400"/>
            <a:ext cx="1463040" cy="822960"/>
          </a:xfrm>
          <a:prstGeom prst="ellipse">
            <a:avLst/>
          </a:prstGeom>
          <a:solidFill>
            <a:srgbClr val="00838F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4382" dirty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05" name="Shape 105"/>
          <p:cNvSpPr/>
          <p:nvPr/>
        </p:nvSpPr>
        <p:spPr>
          <a:xfrm>
            <a:off x="7040880" y="3200400"/>
            <a:ext cx="1463040" cy="822960"/>
          </a:xfrm>
          <a:prstGeom prst="ellipse">
            <a:avLst/>
          </a:prstGeom>
          <a:solidFill>
            <a:srgbClr val="EF6C00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4382" dirty="0">
                <a:solidFill>
                  <a:srgbClr val="000000"/>
                </a:solidFill>
              </a:rPr>
              <a:t>C</a:t>
            </a:r>
          </a:p>
        </p:txBody>
      </p:sp>
      <p:cxnSp>
        <p:nvCxnSpPr>
          <p:cNvPr id="56" name="Connector 56"/>
          <p:cNvCxnSpPr>
</p:cNvCxnSpPr>
          <p:nvPr/>
        </p:nvCxnSpPr>
        <p:spPr>
          <a:xfrm>
            <a:off x="2300000" y="2200000"/>
            <a:ext cx="1200000" cy="0"/>
          </a:xfrm>
          <a:prstGeom prst="straightConnector1">
            <a:avLst/>
          </a:prstGeom>
          <a:ln w="25400">
            <a:solidFill>
              <a:srgbClr val="1565C0"/>
            </a:solidFill>
            <a:prstDash val="solid"/>
            <a:tailEnd type="triangle" w="lg" len="lg"/>
          </a:ln>
        </p:spPr>
      </p:cxnSp>
      <p:cxnSp>
        <p:nvCxnSpPr>
          <p:cNvPr id="57" name="Connector 57"/>
          <p:cNvCxnSpPr>
</p:cNvCxnSpPr>
          <p:nvPr/>
        </p:nvCxnSpPr>
        <p:spPr>
          <a:xfrm>
            <a:off x="5300000" y="2200000"/>
            <a:ext cx="1200000" cy="0"/>
          </a:xfrm>
          <a:prstGeom prst="bentConnector3">
            <a:avLst/>
          </a:prstGeom>
          <a:ln w="38100">
            <a:solidFill>
              <a:srgbClr val="2E7D32"/>
            </a:solidFill>
            <a:prstDash val="dash"/>
            <a:tailEnd type="stealth" w="med" len="med"/>
          </a:ln>
        </p:spPr>
      </p:cxnSp>
      <p:cxnSp>
        <p:nvCxnSpPr>
          <p:cNvPr id="58" name="Connector 58"/>
          <p:cNvCxnSpPr>
</p:cNvCxnSpPr>
          <p:nvPr/>
        </p:nvCxnSpPr>
        <p:spPr>
          <a:xfrm>
            <a:off x="2500000" y="3600000"/>
            <a:ext cx="1500000" cy="0"/>
          </a:xfrm>
          <a:prstGeom prst="curvedConnector3">
            <a:avLst/>
          </a:prstGeom>
          <a:ln w="19050">
            <a:solidFill>
              <a:srgbClr val="7B1FA2"/>
            </a:solidFill>
            <a:prstDash val="dashDot"/>
            <a:headEnd type="oval" w="med" len="med"/>
            <a:tailEnd type="diamond" w="med" len="med"/>
          </a:ln>
        </p:spPr>
      </p:cxnSp>
      <p:cxnSp>
        <p:nvCxnSpPr>
          <p:cNvPr id="59" name="Connector 59"/>
          <p:cNvCxnSpPr>
</p:cNvCxnSpPr>
          <p:nvPr/>
        </p:nvCxnSpPr>
        <p:spPr>
          <a:xfrm>
            <a:off x="5500000" y="3600000"/>
            <a:ext cx="1500000" cy="0"/>
          </a:xfrm>
          <a:prstGeom prst="straightConnector1">
            <a:avLst/>
          </a:prstGeom>
          <a:ln w="12700">
            <a:solidFill>
              <a:srgbClr val="00838F"/>
            </a:solidFill>
            <a:prstDash val="dot"/>
            <a:tailEnd type="arrow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Image Effects: Shadow (Outer Shadow)</a:t>
            </a:r>
          </a:p>
        </p:txBody>
      </p:sp>
      <p:pic>
        <p:nvPicPr>
          <p:cNvPr id="20" name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2011680" cy="2011680"/>
          </a:xfrm>
          <a:prstGeom prst="rect">
            <a:avLst/>
          </a:prstGeom>
          <a:effectLst>
            <a:outerShdw blurRad="40000" dist="20000" dir="5400000" rotWithShape="0">
              <a:srgbClr val="000000">
                <a:alpha val="40000"/>
              </a:srgbClr>
            </a:outerShdw>
          </a:effectLst>
        </p:spPr>
      </p:pic>
      <p:pic>
        <p:nvPicPr>
          <p:cNvPr id="21" name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463040"/>
            <a:ext cx="2468880" cy="1828800"/>
          </a:xfrm>
          <a:prstGeom prst="rect">
            <a:avLst/>
          </a:prstGeom>
          <a:effectLst>
            <a:outerShdw blurRad="40000" dist="20000" dir="5400000" rotWithShape="0">
              <a:srgbClr val="000000">
                <a:alpha val="40000"/>
              </a:srgbClr>
            </a:outerShdw>
          </a:effectLst>
        </p:spPr>
      </p:pic>
      <p:pic>
        <p:nvPicPr>
          <p:cNvPr id="22" name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463040"/>
            <a:ext cx="2286000" cy="1828800"/>
          </a:xfrm>
          <a:prstGeom prst="rect">
            <a:avLst/>
          </a:prstGeom>
          <a:effectLst>
            <a:outerShdw blurRad="40000" dist="20000" dir="5400000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2E75B5"/>
                </a:solidFill>
              </a:rPr>
              <a:t>Image Effects: Reflection (Mirror Effect)</a:t>
            </a:r>
          </a:p>
        </p:txBody>
      </p:sp>
      <p:pic>
        <p:nvPicPr>
          <p:cNvPr id="20" name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88720"/>
            <a:ext cx="2194560" cy="2194560"/>
          </a:xfrm>
          <a:prstGeom prst="rect">
            <a:avLst/>
          </a:prstGeom>
          <a:effectLst>
            <a:reflection blurRad="6350" stA="50000" endA="300" endPos="35000" dir="5400000" sy="-100000" algn="bl" rotWithShape="0"/>
          </a:effectLst>
        </p:spPr>
      </p:pic>
      <p:pic>
        <p:nvPicPr>
          <p:cNvPr id="21" name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188720"/>
            <a:ext cx="2834640" cy="2011680"/>
          </a:xfrm>
          <a:prstGeom prst="rect">
            <a:avLst/>
          </a:prstGeom>
          <a:effectLst>
            <a:reflection blurRad="6350" stA="50000" endA="300" endPos="35000" dir="5400000" sy="-100000" algn="bl" rotWithShape="0"/>
          </a:effectLst>
        </p:spPr>
      </p:pic>
      <p:pic>
        <p:nvPicPr>
          <p:cNvPr id="22" name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188720"/>
            <a:ext cx="2377440" cy="2011680"/>
          </a:xfrm>
          <a:prstGeom prst="rect">
            <a:avLst/>
          </a:prstGeom>
          <a:effectLst>
            <a:reflection blurRad="6350" stA="50000" endA="300" endPos="35000" dir="5400000" sy="-100000" algn="bl" rotWithShape="0"/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70AD47"/>
                </a:solidFill>
              </a:rPr>
              <a:t>Image Cropping: All Sides, Top/Bottom, Left/Right</a:t>
            </a:r>
          </a:p>
        </p:txBody>
      </p:sp>
      <p:pic>
        <p:nvPicPr>
          <p:cNvPr id="20" name="image.png"/>
          <p:cNvPicPr>
            <a:picLocks noChangeAspect="1"/>
          </p:cNvPicPr>
          <p:nvPr/>
        </p:nvPicPr>
        <p:blipFill>
          <a:blip r:embed="rId2"/>
          <a:srcRect l="10000" t="10000" r="10000" b="10000"/>
          <a:stretch>
            <a:fillRect/>
          </a:stretch>
        </p:blipFill>
        <p:spPr>
          <a:xfrm>
            <a:off x="1188720" y="1828800"/>
            <a:ext cx="1828800" cy="1828800"/>
          </a:xfrm>
          <a:prstGeom prst="rect">
            <a:avLst/>
          </a:prstGeom>
        </p:spPr>
      </p:pic>
      <p:pic>
        <p:nvPicPr>
          <p:cNvPr id="21" name="image.jpg"/>
          <p:cNvPicPr>
            <a:picLocks noChangeAspect="1"/>
          </p:cNvPicPr>
          <p:nvPr/>
        </p:nvPicPr>
        <p:blipFill>
          <a:blip r:embed="rId3"/>
          <a:srcRect t="20000" b="20000"/>
          <a:stretch>
            <a:fillRect/>
          </a:stretch>
        </p:blipFill>
        <p:spPr>
          <a:xfrm>
            <a:off x="3474720" y="1828800"/>
            <a:ext cx="3474720" cy="1463040"/>
          </a:xfrm>
          <a:prstGeom prst="rect">
            <a:avLst/>
          </a:prstGeom>
        </p:spPr>
      </p:pic>
      <p:pic>
        <p:nvPicPr>
          <p:cNvPr id="22" name="image.jpg"/>
          <p:cNvPicPr>
            <a:picLocks noChangeAspect="1"/>
          </p:cNvPicPr>
          <p:nvPr/>
        </p:nvPicPr>
        <p:blipFill>
          <a:blip r:embed="rId4"/>
          <a:srcRect l="15000" r="15000"/>
          <a:stretch>
            <a:fillRect/>
          </a:stretch>
        </p:blipFill>
        <p:spPr>
          <a:xfrm>
            <a:off x="7223760" y="1828800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C55A11"/>
                </a:solidFill>
              </a:rPr>
              <a:t>Image Effects: Glow (Golden Aura)</a:t>
            </a:r>
          </a:p>
        </p:txBody>
      </p:sp>
      <p:pic>
        <p:nvPicPr>
          <p:cNvPr id="20" name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2194560" cy="2194560"/>
          </a:xfrm>
          <a:prstGeom prst="rect">
            <a:avLst/>
          </a:prstGeom>
          <a:effectLst>
            <a:glow rad="50800">
              <a:srgbClr val="FFD700">
                <a:alpha val="60000"/>
              </a:srgbClr>
            </a:glow>
          </a:effectLst>
        </p:spPr>
      </p:pic>
      <p:pic>
        <p:nvPicPr>
          <p:cNvPr id="21" name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371600"/>
            <a:ext cx="2651760" cy="1920240"/>
          </a:xfrm>
          <a:prstGeom prst="rect">
            <a:avLst/>
          </a:prstGeom>
          <a:effectLst>
            <a:glow rad="50800">
              <a:srgbClr val="FFD700">
                <a:alpha val="60000"/>
              </a:srgbClr>
            </a:glow>
          </a:effectLst>
        </p:spPr>
      </p:pic>
      <p:pic>
        <p:nvPicPr>
          <p:cNvPr id="22" name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371600"/>
            <a:ext cx="2286000" cy="1920240"/>
          </a:xfrm>
          <a:prstGeom prst="rect">
            <a:avLst/>
          </a:prstGeom>
          <a:effectLst>
            <a:glow rad="50800">
              <a:srgbClr val="FFD700">
                <a:alpha val="60000"/>
              </a:srgbClr>
            </a:glo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9B59B6"/>
                </a:solidFill>
              </a:rPr>
              <a:t>Image Effects: Soft Edges (Feathered)</a:t>
            </a:r>
          </a:p>
        </p:txBody>
      </p:sp>
      <p:pic>
        <p:nvPicPr>
          <p:cNvPr id="20" name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2194560" cy="2194560"/>
          </a:xfrm>
          <a:prstGeom prst="rect">
            <a:avLst/>
          </a:prstGeom>
          <a:effectLst>
            <a:softEdge rad="50800"/>
          </a:effectLst>
        </p:spPr>
      </p:pic>
      <p:pic>
        <p:nvPicPr>
          <p:cNvPr id="21" name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371600"/>
            <a:ext cx="2651760" cy="1920240"/>
          </a:xfrm>
          <a:prstGeom prst="rect">
            <a:avLst/>
          </a:prstGeom>
          <a:effectLst>
            <a:softEdge rad="50800"/>
          </a:effectLst>
        </p:spPr>
      </p:pic>
      <p:pic>
        <p:nvPicPr>
          <p:cNvPr id="22" name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371600"/>
            <a:ext cx="2286000" cy="1920240"/>
          </a:xfrm>
          <a:prstGeom prst="rect">
            <a:avLst/>
          </a:prstGeom>
          <a:effectLst>
            <a:softEdge rad="50800"/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E74C3C"/>
                </a:solidFill>
              </a:rPr>
              <a:t>Image Effects: Inner Shadow (Depth)</a:t>
            </a:r>
          </a:p>
        </p:txBody>
      </p:sp>
      <p:pic>
        <p:nvPicPr>
          <p:cNvPr id="20" name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2194560" cy="2194560"/>
          </a:xfrm>
          <a:prstGeom prst="rect">
            <a:avLst/>
          </a:prstGeom>
          <a:effectLst>
            <a:innerShdw blurRad="40000" dist="20000" dir="2700000">
              <a:srgbClr val="000000">
                <a:alpha val="50000"/>
              </a:srgbClr>
            </a:innerShdw>
          </a:effectLst>
        </p:spPr>
      </p:pic>
      <p:pic>
        <p:nvPicPr>
          <p:cNvPr id="21" name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371600"/>
            <a:ext cx="2651760" cy="1920240"/>
          </a:xfrm>
          <a:prstGeom prst="rect">
            <a:avLst/>
          </a:prstGeom>
          <a:effectLst>
            <a:innerShdw blurRad="40000" dist="20000" dir="2700000">
              <a:srgbClr val="000000">
                <a:alpha val="50000"/>
              </a:srgbClr>
            </a:innerShdw>
          </a:effectLst>
        </p:spPr>
      </p:pic>
      <p:pic>
        <p:nvPicPr>
          <p:cNvPr id="22" name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371600"/>
            <a:ext cx="2286000" cy="1920240"/>
          </a:xfrm>
          <a:prstGeom prst="rect">
            <a:avLst/>
          </a:prstGeom>
          <a:effectLst>
            <a:innerShdw blurRad="40000" dist="20000" dir="2700000">
              <a:srgbClr val="000000">
                <a:alpha val="50000"/>
              </a:srgbClr>
            </a:inn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3498DB"/>
                </a:solidFill>
              </a:rPr>
              <a:t>Image Effects: Blur (Artistic)</a:t>
            </a:r>
          </a:p>
        </p:txBody>
      </p:sp>
      <p:pic>
        <p:nvPicPr>
          <p:cNvPr id="20" name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2194560" cy="2194560"/>
          </a:xfrm>
          <a:prstGeom prst="rect">
            <a:avLst/>
          </a:prstGeom>
          <a:effectLst>
            <a:blur rad="38100"/>
          </a:effectLst>
        </p:spPr>
      </p:pic>
      <p:pic>
        <p:nvPicPr>
          <p:cNvPr id="21" name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371600"/>
            <a:ext cx="2651760" cy="1920240"/>
          </a:xfrm>
          <a:prstGeom prst="rect">
            <a:avLst/>
          </a:prstGeom>
          <a:effectLst>
            <a:blur rad="38100"/>
          </a:effectLst>
        </p:spPr>
      </p:pic>
      <p:pic>
        <p:nvPicPr>
          <p:cNvPr id="22" name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371600"/>
            <a:ext cx="2286000" cy="1920240"/>
          </a:xfrm>
          <a:prstGeom prst="rect">
            <a:avLst/>
          </a:prstGeom>
          <a:effectLst>
            <a:blur rad="38100"/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6A085"/>
                </a:solidFill>
              </a:rPr>
              <a:t>Combined Effects: Shadow + Reflection</a:t>
            </a:r>
          </a:p>
        </p:txBody>
      </p:sp>
      <p:pic>
        <p:nvPicPr>
          <p:cNvPr id="20" name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2194560" cy="2194560"/>
          </a:xfrm>
          <a:prstGeom prst="rect">
            <a:avLst/>
          </a:prstGeom>
          <a:effectLst>
            <a:outerShdw blurRad="40000" dist="20000" dir="5400000" rotWithShape="0">
              <a:srgbClr val="000000">
                <a:alpha val="40000"/>
              </a:srgbClr>
            </a:outerShdw>
            <a:reflection blurRad="6350" stA="50000" endA="300" endPos="35000" dir="5400000" sy="-100000" algn="bl" rotWithShape="0"/>
          </a:effectLst>
        </p:spPr>
      </p:pic>
      <p:pic>
        <p:nvPicPr>
          <p:cNvPr id="21" name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371600"/>
            <a:ext cx="2651760" cy="1920240"/>
          </a:xfrm>
          <a:prstGeom prst="rect">
            <a:avLst/>
          </a:prstGeom>
          <a:effectLst>
            <a:outerShdw blurRad="40000" dist="20000" dir="5400000" rotWithShape="0">
              <a:srgbClr val="000000">
                <a:alpha val="40000"/>
              </a:srgbClr>
            </a:outerShdw>
            <a:reflection blurRad="6350" stA="50000" endA="300" endPos="35000" dir="5400000" sy="-100000" algn="bl" rotWithShape="0"/>
          </a:effectLst>
        </p:spPr>
      </p:pic>
      <p:pic>
        <p:nvPicPr>
          <p:cNvPr id="22" name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371600"/>
            <a:ext cx="2286000" cy="1920240"/>
          </a:xfrm>
          <a:prstGeom prst="rect">
            <a:avLst/>
          </a:prstGeom>
          <a:effectLst>
            <a:outerShdw blurRad="40000" dist="20000" dir="5400000" rotWithShape="0">
              <a:srgbClr val="000000">
                <a:alpha val="40000"/>
              </a:srgbClr>
            </a:outerShdw>
            <a:reflection blurRad="6350" stA="50000" endA="300" endPos="35000" dir="5400000" sy="-100000" algn="bl" rotWithShape="0"/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E79"/>
                </a:solidFill>
              </a:rPr>
              <a:t>Financial Report - Advanced Table</a:t>
            </a:r>
          </a:p>
        </p:txBody>
      </p:sp>
      <p:graphicFrame>
        <p:nvGraphicFramePr>
          <p:cNvPr id="3" name="Table 3"/>
          <p:cNvGraphicFramePr/>
          <p:nvPr/>
        </p:nvGraphicFramePr>
        <p:xfrm>
          <a:off x="300000" y="1600000"/>
          <a:ext cx="8000000" cy="2000000"/>
        </p:xfrm>
        <a:graphic>
          <a:graphicData uri="http://schemas.openxmlformats.org/drawingml/2006/table">
            <a:tbl>
              <a:tblPr firstRow="1" bandRow="1"/>
              <a:tblGrid>
                <a:gridCol w="2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r>
                        <a:rPr lang="en-US" dirty="0" b="1" sz="1400">
                          <a:solidFill>
                            <a:srgbClr val="FFFFFF"/>
                          </a:solidFill>
                        </a:rPr>
                        <a:t>Q1 2024 Financial Report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Revenue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Expenses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Profit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Product 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rgbClr val="2E7D32"/>
                          </a:solidFill>
                        </a:rPr>
                        <a:t>$1,250,000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rgbClr val="C62828"/>
                          </a:solidFill>
                        </a:rPr>
                        <a:t>$450,000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b="1">
                          <a:solidFill>
                            <a:srgbClr val="2E7D32"/>
                          </a:solidFill>
                        </a:rPr>
                        <a:t>$800,000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rgbClr val="2E7D32"/>
                          </a:solidFill>
                        </a:rPr>
                        <a:t>$890,000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rgbClr val="C62828"/>
                          </a:solidFill>
                        </a:rPr>
                        <a:t>$320,000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b="1">
                          <a:solidFill>
                            <a:srgbClr val="2E7D32"/>
                          </a:solidFill>
                        </a:rPr>
                        <a:t>$570,000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en-US" dirty="0" b="1">
                          <a:solidFill>
                            <a:srgbClr val="000000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b="1">
                          <a:solidFill>
                            <a:srgbClr val="000000"/>
                          </a:solidFill>
                        </a:rPr>
                        <a:t>$2,140,000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b="1">
                          <a:solidFill>
                            <a:srgbClr val="000000"/>
                          </a:solidFill>
                        </a:rPr>
                        <a:t>$770,000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b="1">
                          <a:solidFill>
                            <a:srgbClr val="006100"/>
                          </a:solidFill>
                        </a:rPr>
                        <a:t>$1,370,000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4472C4"/>
                </a:solidFill>
              </a:rPr>
              <a:t>Pricing Comparison Matrix</a:t>
            </a:r>
          </a:p>
        </p:txBody>
      </p:sp>
      <p:graphicFrame>
        <p:nvGraphicFramePr>
          <p:cNvPr id="3" name="Table 3"/>
          <p:cNvGraphicFramePr/>
          <p:nvPr/>
        </p:nvGraphicFramePr>
        <p:xfrm>
          <a:off x="500000" y="1600000"/>
          <a:ext cx="6500000" cy="2400000"/>
        </p:xfrm>
        <a:graphic>
          <a:graphicData uri="http://schemas.openxmlformats.org/drawingml/2006/table">
            <a:tbl>
              <a:tblPr firstRow="1" bandRow="1"/>
              <a:tblGrid>
                <a:gridCol w="2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Basic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Pro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Enterprise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5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50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2E7D32"/>
                          </a:solidFill>
                        </a:rPr>
                        <a:t>Unlimited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2E7D32"/>
                          </a:solidFill>
                        </a:rPr>
                        <a:t>Unlimited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24/7 Chat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2E7D32"/>
                          </a:solidFill>
                        </a:rPr>
                        <a:t>Dedicated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API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62828"/>
                          </a:solidFill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2E7D32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2E7D32"/>
                          </a:solidFill>
                        </a:rPr>
                        <a:t>Yes + Priority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000000"/>
                          </a:solidFill>
                        </a:rPr>
                        <a:t>Price/month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000000"/>
                          </a:solidFill>
                        </a:rPr>
                        <a:t>$9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000000"/>
                          </a:solidFill>
                        </a:rPr>
                        <a:t>$29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000000"/>
                          </a:solidFill>
                        </a:rPr>
                        <a:t>$99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Development Process Flow</a:t>
            </a:r>
          </a:p>
        </p:txBody>
      </p:sp>
      <p:sp>
        <p:nvSpPr>
          <p:cNvPr id="10" name="Shape 10"/>
          <p:cNvSpPr/>
          <p:nvPr/>
        </p:nvSpPr>
        <p:spPr>
          <a:xfrm>
            <a:off x="274320" y="2011680"/>
            <a:ext cx="1371600" cy="822960"/>
          </a:xfrm>
          <a:prstGeom prst="roundRect">
            <a:avLst/>
          </a:prstGeom>
          <a:solidFill>
            <a:srgbClr val="4472C4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1701" dirty="0">
                <a:solidFill>
                  <a:srgbClr val="FFFFFF"/>
                </a:solidFill>
              </a:rPr>
              <a:t>1. Research</a:t>
            </a:r>
          </a:p>
        </p:txBody>
      </p:sp>
      <p:sp>
        <p:nvSpPr>
          <p:cNvPr id="11" name="Shape 11"/>
          <p:cNvSpPr/>
          <p:nvPr/>
        </p:nvSpPr>
        <p:spPr>
          <a:xfrm>
            <a:off x="1828800" y="2194560"/>
            <a:ext cx="365760" cy="365760"/>
          </a:xfrm>
          <a:prstGeom prst="rightArrow">
            <a:avLst/>
          </a:prstGeom>
          <a:solidFill>
            <a:srgbClr val="A5A5A5"/>
          </a:solidFill>
        </p:spPr>
        <p:txBody>
          <a:bodyPr/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2286000" y="2011680"/>
            <a:ext cx="1371600" cy="822960"/>
          </a:xfrm>
          <a:prstGeom prst="roundRect">
            <a:avLst/>
          </a:prstGeom>
          <a:solidFill>
            <a:srgbClr val="ED7D31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2079" dirty="0">
                <a:solidFill>
                  <a:srgbClr val="000000"/>
                </a:solidFill>
              </a:rPr>
              <a:t>2. Design</a:t>
            </a:r>
          </a:p>
        </p:txBody>
      </p:sp>
      <p:sp>
        <p:nvSpPr>
          <p:cNvPr id="13" name="Shape 13"/>
          <p:cNvSpPr/>
          <p:nvPr/>
        </p:nvSpPr>
        <p:spPr>
          <a:xfrm>
            <a:off x="3840480" y="2194560"/>
            <a:ext cx="365760" cy="365760"/>
          </a:xfrm>
          <a:prstGeom prst="rightArrow">
            <a:avLst/>
          </a:prstGeom>
          <a:solidFill>
            <a:srgbClr val="A5A5A5"/>
          </a:solidFill>
        </p:spPr>
        <p:txBody>
          <a:bodyPr/>
          <a:lstStyle/>
          <a:p>
            <a:endParaRPr/>
          </a:p>
        </p:txBody>
      </p:sp>
      <p:sp>
        <p:nvSpPr>
          <p:cNvPr id="14" name="Shape 14"/>
          <p:cNvSpPr/>
          <p:nvPr/>
        </p:nvSpPr>
        <p:spPr>
          <a:xfrm>
            <a:off x="4297680" y="2011680"/>
            <a:ext cx="1371600" cy="822960"/>
          </a:xfrm>
          <a:prstGeom prst="roundRect">
            <a:avLst/>
          </a:prstGeom>
          <a:solidFill>
            <a:srgbClr val="70AD47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1872" dirty="0">
                <a:solidFill>
                  <a:srgbClr val="000000"/>
                </a:solidFill>
              </a:rPr>
              <a:t>3. Develop</a:t>
            </a:r>
          </a:p>
        </p:txBody>
      </p:sp>
      <p:sp>
        <p:nvSpPr>
          <p:cNvPr id="15" name="Shape 15"/>
          <p:cNvSpPr/>
          <p:nvPr/>
        </p:nvSpPr>
        <p:spPr>
          <a:xfrm>
            <a:off x="5760720" y="2194560"/>
            <a:ext cx="365760" cy="365760"/>
          </a:xfrm>
          <a:prstGeom prst="rightArrow">
            <a:avLst/>
          </a:prstGeom>
          <a:solidFill>
            <a:srgbClr val="A5A5A5"/>
          </a:solidFill>
        </p:spPr>
        <p:txBody>
          <a:bodyPr/>
          <a:lstStyle/>
          <a:p>
            <a:endParaRPr/>
          </a:p>
        </p:txBody>
      </p:sp>
      <p:sp>
        <p:nvSpPr>
          <p:cNvPr id="16" name="Shape 16"/>
          <p:cNvSpPr/>
          <p:nvPr/>
        </p:nvSpPr>
        <p:spPr>
          <a:xfrm>
            <a:off x="6309360" y="2011680"/>
            <a:ext cx="1371600" cy="822960"/>
          </a:xfrm>
          <a:prstGeom prst="roundRect">
            <a:avLst/>
          </a:prstGeom>
          <a:solidFill>
            <a:srgbClr val="5B9BD5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2079" dirty="0">
                <a:solidFill>
                  <a:srgbClr val="000000"/>
                </a:solidFill>
              </a:rPr>
              <a:t>4. Deploy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E79"/>
                </a:solidFill>
              </a:rPr>
              <a:t>Organization Structure</a:t>
            </a:r>
          </a:p>
        </p:txBody>
      </p:sp>
      <p:sp>
        <p:nvSpPr>
          <p:cNvPr id="10" name="Shape 10"/>
          <p:cNvSpPr/>
          <p:nvPr/>
        </p:nvSpPr>
        <p:spPr>
          <a:xfrm>
            <a:off x="3474720" y="1371600"/>
            <a:ext cx="2011680" cy="640080"/>
          </a:xfrm>
          <a:prstGeom prst="roundRect">
            <a:avLst/>
          </a:prstGeom>
          <a:solidFill>
            <a:srgbClr val="1F4E79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3130" dirty="0">
                <a:solidFill>
                  <a:srgbClr val="FFFFFF"/>
                </a:solidFill>
              </a:rPr>
              <a:t>CEO</a:t>
            </a:r>
          </a:p>
        </p:txBody>
      </p:sp>
      <p:sp>
        <p:nvSpPr>
          <p:cNvPr id="11" name="Shape 11"/>
          <p:cNvSpPr/>
          <p:nvPr/>
        </p:nvSpPr>
        <p:spPr>
          <a:xfrm>
            <a:off x="4480560" y="2011680"/>
            <a:ext cx="91440" cy="365760"/>
          </a:xfrm>
          <a:prstGeom prst="rect">
            <a:avLst/>
          </a:prstGeom>
          <a:solidFill>
            <a:srgbClr val="A5A5A5"/>
          </a:solidFill>
        </p:spPr>
        <p:txBody>
          <a:bodyPr/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1920240" y="2377440"/>
            <a:ext cx="5120640" cy="45720"/>
          </a:xfrm>
          <a:prstGeom prst="rect">
            <a:avLst/>
          </a:prstGeom>
          <a:solidFill>
            <a:srgbClr val="A5A5A5"/>
          </a:solidFill>
        </p:spPr>
        <p:txBody>
          <a:bodyPr/>
          <a:lstStyle/>
          <a:p>
            <a:endParaRPr/>
          </a:p>
        </p:txBody>
      </p:sp>
      <p:sp>
        <p:nvSpPr>
          <p:cNvPr id="13" name="Shape 13"/>
          <p:cNvSpPr/>
          <p:nvPr/>
        </p:nvSpPr>
        <p:spPr>
          <a:xfrm>
            <a:off x="1005840" y="2560320"/>
            <a:ext cx="1828800" cy="457200"/>
          </a:xfrm>
          <a:prstGeom prst="roundRect">
            <a:avLst/>
          </a:prstGeom>
          <a:solidFill>
            <a:srgbClr val="2E75B6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1878" dirty="0">
                <a:solidFill>
                  <a:srgbClr val="FFFFFF"/>
                </a:solidFill>
              </a:rPr>
              <a:t>CTO</a:t>
            </a:r>
          </a:p>
        </p:txBody>
      </p:sp>
      <p:sp>
        <p:nvSpPr>
          <p:cNvPr id="14" name="Shape 14"/>
          <p:cNvSpPr/>
          <p:nvPr/>
        </p:nvSpPr>
        <p:spPr>
          <a:xfrm>
            <a:off x="3566160" y="2560320"/>
            <a:ext cx="1828800" cy="457200"/>
          </a:xfrm>
          <a:prstGeom prst="roundRect">
            <a:avLst/>
          </a:prstGeom>
          <a:solidFill>
            <a:srgbClr val="2E75B6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1878" dirty="0">
                <a:solidFill>
                  <a:srgbClr val="FFFFFF"/>
                </a:solidFill>
              </a:rPr>
              <a:t>CFO</a:t>
            </a:r>
          </a:p>
        </p:txBody>
      </p:sp>
      <p:sp>
        <p:nvSpPr>
          <p:cNvPr id="15" name="Shape 15"/>
          <p:cNvSpPr/>
          <p:nvPr/>
        </p:nvSpPr>
        <p:spPr>
          <a:xfrm>
            <a:off x="6217920" y="2560320"/>
            <a:ext cx="1828800" cy="457200"/>
          </a:xfrm>
          <a:prstGeom prst="roundRect">
            <a:avLst/>
          </a:prstGeom>
          <a:solidFill>
            <a:srgbClr val="2E75B6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1878" dirty="0">
                <a:solidFill>
                  <a:srgbClr val="FFFFFF"/>
                </a:solidFill>
              </a:rPr>
              <a:t>COO</a:t>
            </a:r>
          </a:p>
        </p:txBody>
      </p:sp>
      <p:sp>
        <p:nvSpPr>
          <p:cNvPr id="16" name="Shape 16"/>
          <p:cNvSpPr/>
          <p:nvPr/>
        </p:nvSpPr>
        <p:spPr>
          <a:xfrm>
            <a:off x="1828800" y="2468880"/>
            <a:ext cx="45720" cy="146304"/>
          </a:xfrm>
          <a:prstGeom prst="rect">
            <a:avLst/>
          </a:prstGeom>
          <a:solidFill>
            <a:srgbClr val="A5A5A5"/>
          </a:solidFill>
        </p:spPr>
        <p:txBody>
          <a:bodyPr/>
          <a:lstStyle/>
          <a:p>
            <a:endParaRPr/>
          </a:p>
        </p:txBody>
      </p:sp>
      <p:sp>
        <p:nvSpPr>
          <p:cNvPr id="17" name="Shape 17"/>
          <p:cNvSpPr/>
          <p:nvPr/>
        </p:nvSpPr>
        <p:spPr>
          <a:xfrm>
            <a:off x="4480560" y="2468880"/>
            <a:ext cx="45720" cy="146304"/>
          </a:xfrm>
          <a:prstGeom prst="rect">
            <a:avLst/>
          </a:prstGeom>
          <a:solidFill>
            <a:srgbClr val="A5A5A5"/>
          </a:solidFill>
        </p:spPr>
        <p:txBody>
          <a:bodyPr/>
          <a:lstStyle/>
          <a:p>
            <a:endParaRPr/>
          </a:p>
        </p:txBody>
      </p:sp>
      <p:sp>
        <p:nvSpPr>
          <p:cNvPr id="18" name="Shape 18"/>
          <p:cNvSpPr/>
          <p:nvPr/>
        </p:nvSpPr>
        <p:spPr>
          <a:xfrm>
            <a:off x="7040880" y="2468880"/>
            <a:ext cx="45720" cy="146304"/>
          </a:xfrm>
          <a:prstGeom prst="rect">
            <a:avLst/>
          </a:prstGeom>
          <a:solidFill>
            <a:srgbClr val="A5A5A5"/>
          </a:solidFill>
        </p:spPr>
        <p:txBody>
          <a:bodyPr/>
          <a:lstStyle/>
          <a:p>
            <a:endParaRPr/>
          </a:p>
        </p:txBody>
      </p:sp>
      <p:sp>
        <p:nvSpPr>
          <p:cNvPr id="19" name="Shape 19"/>
          <p:cNvSpPr/>
          <p:nvPr/>
        </p:nvSpPr>
        <p:spPr>
          <a:xfrm>
            <a:off x="457200" y="3291840"/>
            <a:ext cx="1188720" cy="365760"/>
          </a:xfrm>
          <a:prstGeom prst="rect">
            <a:avLst/>
          </a:prstGeom>
          <a:solidFill>
            <a:srgbClr val="BDD7EE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1252" dirty="0">
                <a:solidFill>
                  <a:srgbClr val="000000"/>
                </a:solidFill>
              </a:rPr>
              <a:t>Engineering</a:t>
            </a:r>
          </a:p>
        </p:txBody>
      </p:sp>
      <p:sp>
        <p:nvSpPr>
          <p:cNvPr id="20" name="Shape 20"/>
          <p:cNvSpPr/>
          <p:nvPr/>
        </p:nvSpPr>
        <p:spPr>
          <a:xfrm>
            <a:off x="1828800" y="3291840"/>
            <a:ext cx="1188720" cy="365760"/>
          </a:xfrm>
          <a:prstGeom prst="rect">
            <a:avLst/>
          </a:prstGeom>
          <a:solidFill>
            <a:srgbClr val="BDD7EE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1252" dirty="0">
                <a:solidFill>
                  <a:srgbClr val="000000"/>
                </a:solidFill>
              </a:rPr>
              <a:t>Product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PDCA Continuous Improvement Cycle</a:t>
            </a:r>
          </a:p>
        </p:txBody>
      </p:sp>
      <p:sp>
        <p:nvSpPr>
          <p:cNvPr id="10" name="Shape 10"/>
          <p:cNvSpPr/>
          <p:nvPr/>
        </p:nvSpPr>
        <p:spPr>
          <a:xfrm>
            <a:off x="1463040" y="1600200"/>
            <a:ext cx="2468880" cy="1463040"/>
          </a:xfrm>
          <a:prstGeom prst="roundRect">
            <a:avLst/>
          </a:prstGeom>
          <a:solidFill>
            <a:srgbClr val="4472C4"/>
          </a:solidFill>
        </p:spPr>
        <p:txBody>
          <a:bodyPr wrap="square" rtlCol="0" anchor="t" lIns="91440" tIns="45720" rIns="91440" bIns="45720">
            <a:normAutofit/>
          </a:bodyPr>
          <a:lstStyle/>
          <a:p>
            <a:pPr algn="l" marL="0" marR="0" indent="0"/>
            <a:r>
              <a:rPr lang="en-US" sz="2191" dirty="0">
                <a:solidFill>
                  <a:srgbClr val="FFFFFF"/>
                </a:solidFill>
              </a:rPr>
              <a:t>PLAN
Define goals
and strategy</a:t>
            </a:r>
          </a:p>
        </p:txBody>
      </p:sp>
      <p:sp>
        <p:nvSpPr>
          <p:cNvPr id="11" name="Shape 11"/>
          <p:cNvSpPr/>
          <p:nvPr/>
        </p:nvSpPr>
        <p:spPr>
          <a:xfrm>
            <a:off x="4480560" y="1600200"/>
            <a:ext cx="2468880" cy="1463040"/>
          </a:xfrm>
          <a:prstGeom prst="roundRect">
            <a:avLst/>
          </a:prstGeom>
          <a:solidFill>
            <a:srgbClr val="ED7D31"/>
          </a:solidFill>
        </p:spPr>
        <p:txBody>
          <a:bodyPr wrap="square" rtlCol="0" anchor="t" lIns="91440" tIns="45720" rIns="91440" bIns="45720">
            <a:normAutofit/>
          </a:bodyPr>
          <a:lstStyle/>
          <a:p>
            <a:pPr algn="l" marL="0" marR="0" indent="0"/>
            <a:r>
              <a:rPr lang="en-US" sz="2191" dirty="0">
                <a:solidFill>
                  <a:srgbClr val="000000"/>
                </a:solidFill>
              </a:rPr>
              <a:t>DO
Implement
the plan</a:t>
            </a:r>
          </a:p>
        </p:txBody>
      </p:sp>
      <p:sp>
        <p:nvSpPr>
          <p:cNvPr id="12" name="Shape 12"/>
          <p:cNvSpPr/>
          <p:nvPr/>
        </p:nvSpPr>
        <p:spPr>
          <a:xfrm>
            <a:off x="4480560" y="3291840"/>
            <a:ext cx="2468880" cy="1463040"/>
          </a:xfrm>
          <a:prstGeom prst="roundRect">
            <a:avLst/>
          </a:prstGeom>
          <a:solidFill>
            <a:srgbClr val="70AD47"/>
          </a:solidFill>
        </p:spPr>
        <p:txBody>
          <a:bodyPr wrap="square" rtlCol="0" anchor="t" lIns="91440" tIns="45720" rIns="91440" bIns="45720">
            <a:normAutofit/>
          </a:bodyPr>
          <a:lstStyle/>
          <a:p>
            <a:pPr algn="l" marL="0" marR="0" indent="0"/>
            <a:r>
              <a:rPr lang="en-US" sz="2191" dirty="0">
                <a:solidFill>
                  <a:srgbClr val="000000"/>
                </a:solidFill>
              </a:rPr>
              <a:t>CHECK
Measure
results</a:t>
            </a:r>
          </a:p>
        </p:txBody>
      </p:sp>
      <p:sp>
        <p:nvSpPr>
          <p:cNvPr id="13" name="Shape 13"/>
          <p:cNvSpPr/>
          <p:nvPr/>
        </p:nvSpPr>
        <p:spPr>
          <a:xfrm>
            <a:off x="1463040" y="3291840"/>
            <a:ext cx="2468880" cy="1463040"/>
          </a:xfrm>
          <a:prstGeom prst="roundRect">
            <a:avLst/>
          </a:prstGeom>
          <a:solidFill>
            <a:srgbClr val="FFC000"/>
          </a:solidFill>
        </p:spPr>
        <p:txBody>
          <a:bodyPr wrap="square" rtlCol="0" anchor="t" lIns="91440" tIns="45720" rIns="91440" bIns="45720">
            <a:normAutofit/>
          </a:bodyPr>
          <a:lstStyle/>
          <a:p>
            <a:pPr algn="l" marL="0" marR="0" indent="0"/>
            <a:r>
              <a:rPr lang="en-US" sz="2191" dirty="0">
                <a:solidFill>
                  <a:srgbClr val="000000"/>
                </a:solidFill>
              </a:rPr>
              <a:t>ACT
Adjust and
improve</a:t>
            </a:r>
          </a:p>
        </p:txBody>
      </p:sp>
      <p:sp>
        <p:nvSpPr>
          <p:cNvPr id="14" name="Shape 14"/>
          <p:cNvSpPr/>
          <p:nvPr/>
        </p:nvSpPr>
        <p:spPr>
          <a:xfrm>
            <a:off x="4114800" y="2103120"/>
            <a:ext cx="274320" cy="274320"/>
          </a:xfrm>
          <a:prstGeom prst="rightArrow">
            <a:avLst/>
          </a:prstGeom>
          <a:solidFill>
            <a:srgbClr val="A5A5A5"/>
          </a:solidFill>
        </p:spPr>
        <p:txBody>
          <a:bodyPr/>
          <a:lstStyle/>
          <a:p>
            <a:endParaRPr/>
          </a:p>
        </p:txBody>
      </p:sp>
      <p:sp>
        <p:nvSpPr>
          <p:cNvPr id="15" name="Shape 15"/>
          <p:cNvSpPr/>
          <p:nvPr/>
        </p:nvSpPr>
        <p:spPr>
          <a:xfrm>
            <a:off x="5577840" y="3200400"/>
            <a:ext cx="274320" cy="182880"/>
          </a:xfrm>
          <a:prstGeom prst="downArrow">
            <a:avLst/>
          </a:prstGeom>
          <a:solidFill>
            <a:srgbClr val="A5A5A5"/>
          </a:solidFill>
        </p:spPr>
        <p:txBody>
          <a:bodyPr/>
          <a:lstStyle/>
          <a:p>
            <a:endParaRPr/>
          </a:p>
        </p:txBody>
      </p:sp>
      <p:sp>
        <p:nvSpPr>
          <p:cNvPr id="16" name="Shape 16"/>
          <p:cNvSpPr/>
          <p:nvPr/>
        </p:nvSpPr>
        <p:spPr>
          <a:xfrm>
            <a:off x="4114800" y="3840480"/>
            <a:ext cx="274320" cy="274320"/>
          </a:xfrm>
          <a:prstGeom prst="leftArrow">
            <a:avLst/>
          </a:prstGeom>
          <a:solidFill>
            <a:srgbClr val="A5A5A5"/>
          </a:solidFill>
        </p:spPr>
        <p:txBody>
          <a:bodyPr/>
          <a:lstStyle/>
          <a:p>
            <a:endParaRPr/>
          </a:p>
        </p:txBody>
      </p:sp>
      <p:sp>
        <p:nvSpPr>
          <p:cNvPr id="17" name="Shape 17"/>
          <p:cNvSpPr/>
          <p:nvPr/>
        </p:nvSpPr>
        <p:spPr>
          <a:xfrm>
            <a:off x="2560320" y="3200400"/>
            <a:ext cx="274320" cy="182880"/>
          </a:xfrm>
          <a:prstGeom prst="upArrow">
            <a:avLst/>
          </a:prstGeom>
          <a:solidFill>
            <a:srgbClr val="A5A5A5"/>
          </a:solid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Maslow's Hierarchy of Needs</a:t>
            </a:r>
          </a:p>
        </p:txBody>
      </p:sp>
      <p:sp>
        <p:nvSpPr>
          <p:cNvPr id="10" name="Shape 10"/>
          <p:cNvSpPr/>
          <p:nvPr/>
        </p:nvSpPr>
        <p:spPr>
          <a:xfrm>
            <a:off x="457200" y="4023360"/>
            <a:ext cx="7955279" cy="640080"/>
          </a:xfrm>
          <a:prstGeom prst="trapezoid">
            <a:avLst/>
          </a:prstGeom>
          <a:solidFill>
            <a:srgbClr val="C00000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2608" dirty="0">
                <a:solidFill>
                  <a:srgbClr val="FFFFFF"/>
                </a:solidFill>
              </a:rPr>
              <a:t>Physiological Needs - Food, Water, Shelter</a:t>
            </a:r>
          </a:p>
        </p:txBody>
      </p:sp>
      <p:sp>
        <p:nvSpPr>
          <p:cNvPr id="11" name="Shape 11"/>
          <p:cNvSpPr/>
          <p:nvPr/>
        </p:nvSpPr>
        <p:spPr>
          <a:xfrm>
            <a:off x="1005840" y="3383280"/>
            <a:ext cx="7040880" cy="640080"/>
          </a:xfrm>
          <a:prstGeom prst="trapezoid">
            <a:avLst/>
          </a:prstGeom>
          <a:solidFill>
            <a:srgbClr val="ED7D31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2608" dirty="0">
                <a:solidFill>
                  <a:srgbClr val="000000"/>
                </a:solidFill>
              </a:rPr>
              <a:t>Safety Needs - Security, Stability</a:t>
            </a:r>
          </a:p>
        </p:txBody>
      </p:sp>
      <p:sp>
        <p:nvSpPr>
          <p:cNvPr id="12" name="Shape 12"/>
          <p:cNvSpPr/>
          <p:nvPr/>
        </p:nvSpPr>
        <p:spPr>
          <a:xfrm>
            <a:off x="1463040" y="2834640"/>
            <a:ext cx="6035040" cy="640080"/>
          </a:xfrm>
          <a:prstGeom prst="trapezoid">
            <a:avLst/>
          </a:prstGeom>
          <a:solidFill>
            <a:srgbClr val="FFC000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2608" dirty="0">
                <a:solidFill>
                  <a:srgbClr val="000000"/>
                </a:solidFill>
              </a:rPr>
              <a:t>Love &amp; Belonging - Relationships</a:t>
            </a:r>
          </a:p>
        </p:txBody>
      </p:sp>
      <p:sp>
        <p:nvSpPr>
          <p:cNvPr id="13" name="Shape 13"/>
          <p:cNvSpPr/>
          <p:nvPr/>
        </p:nvSpPr>
        <p:spPr>
          <a:xfrm>
            <a:off x="2011680" y="2194560"/>
            <a:ext cx="5029200" cy="640080"/>
          </a:xfrm>
          <a:prstGeom prst="trapezoid">
            <a:avLst/>
          </a:prstGeom>
          <a:solidFill>
            <a:srgbClr val="70AD47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2631" dirty="0">
                <a:solidFill>
                  <a:srgbClr val="000000"/>
                </a:solidFill>
              </a:rPr>
              <a:t>Esteem - Achievement, Respect</a:t>
            </a:r>
          </a:p>
        </p:txBody>
      </p:sp>
      <p:sp>
        <p:nvSpPr>
          <p:cNvPr id="14" name="Shape 14"/>
          <p:cNvSpPr/>
          <p:nvPr/>
        </p:nvSpPr>
        <p:spPr>
          <a:xfrm>
            <a:off x="2468880" y="1463040"/>
            <a:ext cx="4023360" cy="731520"/>
          </a:xfrm>
          <a:prstGeom prst="triangle">
            <a:avLst/>
          </a:prstGeom>
          <a:solidFill>
            <a:srgbClr val="4472C4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3360" dirty="0">
                <a:solidFill>
                  <a:srgbClr val="FFFFFF"/>
                </a:solidFill>
              </a:rPr>
              <a:t>Self-Actualization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Finding Your Ikigai - Venn Diagram</a:t>
            </a:r>
          </a:p>
        </p:txBody>
      </p:sp>
      <p:sp>
        <p:nvSpPr>
          <p:cNvPr id="10" name="Shape 10"/>
          <p:cNvSpPr/>
          <p:nvPr/>
        </p:nvSpPr>
        <p:spPr>
          <a:xfrm>
            <a:off x="1463040" y="1828800"/>
            <a:ext cx="3017520" cy="3017520"/>
          </a:xfrm>
          <a:prstGeom prst="ellipse">
            <a:avLst/>
          </a:prstGeom>
          <a:solidFill>
            <a:srgbClr val="4472C4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7200" dirty="0">
                <a:solidFill>
                  <a:srgbClr val="FFFFFF"/>
                </a:solidFill>
              </a:rPr>
              <a:t>Skills</a:t>
            </a:r>
          </a:p>
        </p:txBody>
      </p:sp>
      <p:sp>
        <p:nvSpPr>
          <p:cNvPr id="11" name="Shape 11"/>
          <p:cNvSpPr/>
          <p:nvPr/>
        </p:nvSpPr>
        <p:spPr>
          <a:xfrm>
            <a:off x="3474720" y="1828800"/>
            <a:ext cx="3017520" cy="3017520"/>
          </a:xfrm>
          <a:prstGeom prst="ellipse">
            <a:avLst/>
          </a:prstGeom>
          <a:solidFill>
            <a:srgbClr val="ED7D31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6377" dirty="0">
                <a:solidFill>
                  <a:srgbClr val="000000"/>
                </a:solidFill>
              </a:rPr>
              <a:t>Passion</a:t>
            </a:r>
          </a:p>
        </p:txBody>
      </p:sp>
      <p:sp>
        <p:nvSpPr>
          <p:cNvPr id="12" name="Shape 12"/>
          <p:cNvSpPr/>
          <p:nvPr/>
        </p:nvSpPr>
        <p:spPr>
          <a:xfrm>
            <a:off x="2468880" y="3200400"/>
            <a:ext cx="3017520" cy="3017520"/>
          </a:xfrm>
          <a:prstGeom prst="ellipse">
            <a:avLst/>
          </a:prstGeom>
          <a:solidFill>
            <a:srgbClr val="70AD47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4058" dirty="0">
                <a:solidFill>
                  <a:srgbClr val="000000"/>
                </a:solidFill>
              </a:rPr>
              <a:t>Market Need</a:t>
            </a:r>
          </a:p>
        </p:txBody>
      </p:sp>
      <p:sp>
        <p:nvSpPr>
          <p:cNvPr id="13" name="Shape 13"/>
          <p:cNvSpPr/>
          <p:nvPr/>
        </p:nvSpPr>
        <p:spPr>
          <a:xfrm>
            <a:off x="3200400" y="2834640"/>
            <a:ext cx="1600200" cy="822960"/>
          </a:xfrm>
          <a:prstGeom prst="ellipse">
            <a:avLst/>
          </a:prstGeom>
          <a:solidFill>
            <a:srgbClr val="FFFFFF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3719" dirty="0">
                <a:solidFill>
                  <a:srgbClr val="000000"/>
                </a:solidFill>
              </a:rPr>
              <a:t>IKIGAI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Project Roadmap 2024-2025</a:t>
            </a:r>
          </a:p>
        </p:txBody>
      </p:sp>
      <p:graphicFrame>
        <p:nvGraphicFramePr>
          <p:cNvPr id="3" name="Table 3"/>
          <p:cNvGraphicFramePr/>
          <p:nvPr/>
        </p:nvGraphicFramePr>
        <p:xfrm>
          <a:off x="300000" y="2000000"/>
          <a:ext cx="7500000" cy="1200000"/>
        </p:xfrm>
        <a:graphic>
          <a:graphicData uri="http://schemas.openxmlformats.org/drawingml/2006/table">
            <a:tbl>
              <a:tblPr firstRow="1" bandRow="1"/>
              <a:tblGrid>
                <a:gridCol w="1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Q1 2024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Q2 2024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Q3 2024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Q4 2024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Q1 2025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1F497D"/>
                          </a:solidFill>
                        </a:rPr>
                        <a:t>Research
&amp; Planning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1F497D"/>
                          </a:solidFill>
                        </a:rPr>
                        <a:t>Design
Phase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6100"/>
                          </a:solidFill>
                        </a:rPr>
                        <a:t>Development
Sprint 1-3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65911"/>
                          </a:solidFill>
                        </a:rPr>
                        <a:t>Testing
&amp; QA</a:t>
                      </a:r>
                    </a:p>
                  </a:txBody>
                  <a:tcP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375623"/>
                          </a:solidFill>
                        </a:rPr>
                        <a:t>Launch
&amp; Support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2E7D32"/>
                          </a:solidFill>
                        </a:rPr>
                        <a:t>✓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2E7D32"/>
                          </a:solidFill>
                        </a:rPr>
                        <a:t>✓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ED7D31"/>
                          </a:solidFill>
                        </a:rPr>
                        <a:t>In 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7F7F7F"/>
                          </a:solidFill>
                        </a:rPr>
                        <a:t>Planned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7F7F7F"/>
                          </a:solidFill>
                        </a:rPr>
                        <a:t>Planned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Executive Dashboard - Q1 2024</a:t>
            </a:r>
          </a:p>
        </p:txBody>
      </p:sp>
      <p:sp>
        <p:nvSpPr>
          <p:cNvPr id="10" name="Shape 10"/>
          <p:cNvSpPr/>
          <p:nvPr/>
        </p:nvSpPr>
        <p:spPr>
          <a:xfrm>
            <a:off x="274320" y="1577340"/>
            <a:ext cx="2011680" cy="1234440"/>
          </a:xfrm>
          <a:prstGeom prst="roundRect">
            <a:avLst/>
          </a:prstGeom>
          <a:solidFill>
            <a:srgbClr val="4472C4"/>
          </a:solidFill>
        </p:spPr>
        <p:txBody>
          <a:bodyPr wrap="square" rtlCol="0" anchor="t" lIns="91440" tIns="45720" rIns="91440" bIns="45720">
            <a:normAutofit/>
          </a:bodyPr>
          <a:lstStyle/>
          <a:p>
            <a:pPr algn="l" marL="0" marR="0" indent="0"/>
            <a:r>
              <a:rPr lang="en-US" sz="1800" dirty="0">
                <a:solidFill>
                  <a:srgbClr val="FFFFFF"/>
                </a:solidFill>
              </a:rPr>
              <a:t>Revenue
$2.14M
+15% YoY</a:t>
            </a:r>
          </a:p>
        </p:txBody>
      </p:sp>
      <p:sp>
        <p:nvSpPr>
          <p:cNvPr id="11" name="Shape 11"/>
          <p:cNvSpPr/>
          <p:nvPr/>
        </p:nvSpPr>
        <p:spPr>
          <a:xfrm>
            <a:off x="2468880" y="1577340"/>
            <a:ext cx="2011680" cy="1234440"/>
          </a:xfrm>
          <a:prstGeom prst="roundRect">
            <a:avLst/>
          </a:prstGeom>
          <a:solidFill>
            <a:srgbClr val="70AD47"/>
          </a:solidFill>
        </p:spPr>
        <p:txBody>
          <a:bodyPr wrap="square" rtlCol="0" anchor="t" lIns="91440" tIns="45720" rIns="91440" bIns="45720">
            <a:normAutofit/>
          </a:bodyPr>
          <a:lstStyle/>
          <a:p>
            <a:pPr algn="l" marL="0" marR="0" indent="0"/>
            <a:r>
              <a:rPr lang="en-US" sz="1800" dirty="0">
                <a:solidFill>
                  <a:srgbClr val="000000"/>
                </a:solidFill>
              </a:rPr>
              <a:t>Customers
12,450
+22% YoY</a:t>
            </a:r>
          </a:p>
        </p:txBody>
      </p:sp>
      <p:sp>
        <p:nvSpPr>
          <p:cNvPr id="12" name="Shape 12"/>
          <p:cNvSpPr/>
          <p:nvPr/>
        </p:nvSpPr>
        <p:spPr>
          <a:xfrm>
            <a:off x="4663440" y="1577340"/>
            <a:ext cx="2011680" cy="1234440"/>
          </a:xfrm>
          <a:prstGeom prst="roundRect">
            <a:avLst/>
          </a:prstGeom>
          <a:solidFill>
            <a:srgbClr val="ED7D31"/>
          </a:solidFill>
        </p:spPr>
        <p:txBody>
          <a:bodyPr wrap="square" rtlCol="0" anchor="t" lIns="91440" tIns="45720" rIns="91440" bIns="45720">
            <a:normAutofit/>
          </a:bodyPr>
          <a:lstStyle/>
          <a:p>
            <a:pPr algn="l" marL="0" marR="0" indent="0"/>
            <a:r>
              <a:rPr lang="en-US" sz="1800" dirty="0">
                <a:solidFill>
                  <a:srgbClr val="000000"/>
                </a:solidFill>
              </a:rPr>
              <a:t>NPS Score
72
+8 pts</a:t>
            </a:r>
          </a:p>
        </p:txBody>
      </p:sp>
      <p:sp>
        <p:nvSpPr>
          <p:cNvPr id="13" name="Shape 13"/>
          <p:cNvSpPr/>
          <p:nvPr/>
        </p:nvSpPr>
        <p:spPr>
          <a:xfrm>
            <a:off x="6858000" y="1577340"/>
            <a:ext cx="2011680" cy="1234440"/>
          </a:xfrm>
          <a:prstGeom prst="roundRect">
            <a:avLst/>
          </a:prstGeom>
          <a:solidFill>
            <a:srgbClr val="5B9BD5"/>
          </a:solidFill>
        </p:spPr>
        <p:txBody>
          <a:bodyPr wrap="square" rtlCol="0" anchor="t" lIns="91440" tIns="45720" rIns="91440" bIns="45720">
            <a:normAutofit/>
          </a:bodyPr>
          <a:lstStyle/>
          <a:p>
            <a:pPr algn="l" marL="0" marR="0" indent="0"/>
            <a:r>
              <a:rPr lang="en-US" sz="1800" dirty="0">
                <a:solidFill>
                  <a:srgbClr val="000000"/>
                </a:solidFill>
              </a:rPr>
              <a:t>Retention
94%
+3% YoY</a:t>
            </a:r>
          </a:p>
        </p:txBody>
      </p:sp>
      <p:sp>
        <p:nvSpPr>
          <p:cNvPr id="14" name="Shape 14"/>
          <p:cNvSpPr/>
          <p:nvPr/>
        </p:nvSpPr>
        <p:spPr>
          <a:xfrm>
            <a:off x="1280160" y="2880360"/>
            <a:ext cx="274320" cy="274320"/>
          </a:xfrm>
          <a:prstGeom prst="ellipse">
            <a:avLst/>
          </a:prstGeom>
          <a:solidFill>
            <a:srgbClr val="70AD47"/>
          </a:solidFill>
        </p:spPr>
        <p:txBody>
          <a:bodyPr/>
          <a:lstStyle/>
          <a:p>
            <a:endParaRPr/>
          </a:p>
        </p:txBody>
      </p:sp>
      <p:sp>
        <p:nvSpPr>
          <p:cNvPr id="15" name="Shape 15"/>
          <p:cNvSpPr/>
          <p:nvPr/>
        </p:nvSpPr>
        <p:spPr>
          <a:xfrm>
            <a:off x="3474720" y="2880360"/>
            <a:ext cx="274320" cy="274320"/>
          </a:xfrm>
          <a:prstGeom prst="ellipse">
            <a:avLst/>
          </a:prstGeom>
          <a:solidFill>
            <a:srgbClr val="70AD47"/>
          </a:solidFill>
        </p:spPr>
        <p:txBody>
          <a:bodyPr/>
          <a:lstStyle/>
          <a:p>
            <a:endParaRPr/>
          </a:p>
        </p:txBody>
      </p:sp>
      <p:sp>
        <p:nvSpPr>
          <p:cNvPr id="16" name="Shape 16"/>
          <p:cNvSpPr/>
          <p:nvPr/>
        </p:nvSpPr>
        <p:spPr>
          <a:xfrm>
            <a:off x="5669280" y="2880360"/>
            <a:ext cx="274320" cy="274320"/>
          </a:xfrm>
          <a:prstGeom prst="ellipse">
            <a:avLst/>
          </a:prstGeom>
          <a:solidFill>
            <a:srgbClr val="FFC000"/>
          </a:solidFill>
        </p:spPr>
        <p:txBody>
          <a:bodyPr/>
          <a:lstStyle/>
          <a:p>
            <a:endParaRPr/>
          </a:p>
        </p:txBody>
      </p:sp>
      <p:sp>
        <p:nvSpPr>
          <p:cNvPr id="17" name="Shape 17"/>
          <p:cNvSpPr/>
          <p:nvPr/>
        </p:nvSpPr>
        <p:spPr>
          <a:xfrm>
            <a:off x="7863840" y="2880360"/>
            <a:ext cx="274320" cy="274320"/>
          </a:xfrm>
          <a:prstGeom prst="ellipse">
            <a:avLst/>
          </a:prstGeom>
          <a:solidFill>
            <a:srgbClr val="70AD47"/>
          </a:solid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Summary &amp; Next Steps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2400" b="0" i="0" dirty="0"/>
              <a:t>Completed: Research, Design, Initial Development</a:t>
            </a:r>
          </a:p>
          <a:p>
            <a:pPr lvl="0" marL="457200" indent="-457200">
              <a:buChar char="•"/>
            </a:pPr>
            <a:r>
              <a:rPr lang="en-US" sz="2400" b="0" i="0" dirty="0"/>
              <a:t>In Progress: Sprint 3 Development</a:t>
            </a:r>
          </a:p>
          <a:p>
            <a:pPr lvl="0" marL="457200" indent="-457200">
              <a:buChar char="•"/>
            </a:pPr>
            <a:r>
              <a:rPr lang="en-US" sz="2400" b="0" i="0" dirty="0"/>
              <a:t>Next: QA Testing Phase (Q4 2024)</a:t>
            </a:r>
          </a:p>
          <a:p>
            <a:pPr lvl="0" marL="457200" indent="-457200">
              <a:buChar char="•"/>
            </a:pPr>
            <a:r>
              <a:rPr lang="en-US" sz="2400" b="0" i="0" dirty="0"/>
              <a:t>Launch Target: Q1 2025</a:t>
            </a:r>
          </a:p>
          <a:p>
            <a:pPr lvl="0" marL="457200" indent="-457200">
              <a:buChar char="•"/>
            </a:pPr>
            <a:r>
              <a:rPr lang="en-US" sz="2400" b="0" i="0" dirty="0"/>
              <a:t>Key Risks: Resource constraints, Timeline pressure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Bullet Styles - Numbered List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AutoNum type="arabicPeriod"/>
            </a:pPr>
            <a:r>
              <a:rPr lang="en-US" sz="2800" b="0" i="0" dirty="0"/>
              <a:t>First numbered item</a:t>
            </a:r>
          </a:p>
          <a:p>
            <a:pPr lvl="0" marL="457200" indent="-457200">
              <a:buAutoNum type="arabicPeriod"/>
            </a:pPr>
            <a:r>
              <a:rPr lang="en-US" sz="2800" b="0" i="0" dirty="0"/>
              <a:t>Second numbered item</a:t>
            </a:r>
          </a:p>
          <a:p>
            <a:pPr lvl="0" marL="457200" indent="-457200">
              <a:buAutoNum type="arabicPeriod"/>
            </a:pPr>
            <a:r>
              <a:rPr lang="en-US" sz="2800" b="0" i="0" dirty="0"/>
              <a:t>Third numbered item</a:t>
            </a:r>
          </a:p>
          <a:p>
            <a:pPr lvl="0" marL="457200" indent="-457200">
              <a:buAutoNum type="arabicPeriod"/>
            </a:pPr>
            <a:r>
              <a:rPr lang="en-US" sz="2800" b="0" i="0" dirty="0"/>
              <a:t>Fourth numbered item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Bullet Styles - Lettered Lists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AutoNum type="alphaLcPeriod"/>
            </a:pPr>
            <a:r>
              <a:rPr lang="en-US" sz="2800" b="0" i="0" dirty="0"/>
              <a:t>Option A - First choice</a:t>
            </a:r>
          </a:p>
          <a:p>
            <a:pPr lvl="0" marL="457200" indent="-457200">
              <a:buAutoNum type="alphaLcPeriod"/>
            </a:pPr>
            <a:r>
              <a:rPr lang="en-US" sz="2800" b="0" i="0" dirty="0"/>
              <a:t>Option B - Second choice</a:t>
            </a:r>
          </a:p>
          <a:p>
            <a:pPr lvl="0" marL="457200" indent="-457200">
              <a:buAutoNum type="alphaLcPeriod"/>
            </a:pPr>
            <a:r>
              <a:rPr lang="en-US" sz="2800" b="0" i="0" dirty="0"/>
              <a:t>Option C - Third choice</a:t>
            </a:r>
          </a:p>
          <a:p>
            <a:pPr lvl="0" marL="457200" indent="-457200">
              <a:buAutoNum type="alphaLcPeriod"/>
            </a:pPr>
            <a:r>
              <a:rPr lang="en-US" sz="2800" b="0" i="0" dirty="0"/>
              <a:t>Option D - Fourth choice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Bullet Styles - Roman Numerals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AutoNum type="romanUcPeriod"/>
            </a:pPr>
            <a:r>
              <a:rPr lang="en-US" sz="2800" b="0" i="0" dirty="0"/>
              <a:t>Chapter I - Introduction</a:t>
            </a:r>
          </a:p>
          <a:p>
            <a:pPr lvl="0" marL="457200" indent="-457200">
              <a:buAutoNum type="romanUcPeriod"/>
            </a:pPr>
            <a:r>
              <a:rPr lang="en-US" sz="2800" b="0" i="0" dirty="0"/>
              <a:t>Chapter II - Background</a:t>
            </a:r>
          </a:p>
          <a:p>
            <a:pPr lvl="0" marL="457200" indent="-457200">
              <a:buAutoNum type="romanUcPeriod"/>
            </a:pPr>
            <a:r>
              <a:rPr lang="en-US" sz="2800" b="0" i="0" dirty="0"/>
              <a:t>Chapter III - Methodology</a:t>
            </a:r>
          </a:p>
          <a:p>
            <a:pPr lvl="0" marL="457200" indent="-457200">
              <a:buAutoNum type="romanUcPeriod"/>
            </a:pPr>
            <a:r>
              <a:rPr lang="en-US" sz="2800" b="0" i="0" dirty="0"/>
              <a:t>Chapter IV - Results</a:t>
            </a:r>
          </a:p>
          <a:p>
            <a:pPr lvl="0" marL="457200" indent="-457200">
              <a:buAutoNum type="romanUcPeriod"/>
            </a:pPr>
            <a:r>
              <a:rPr lang="en-US" sz="2800" b="0" i="0" dirty="0"/>
              <a:t>Chapter V - Conclusion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Bullet Styles - Custom Characters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★"/>
            </a:pPr>
            <a:r>
              <a:rPr lang="en-US" sz="2800" b="0" i="0" dirty="0"/>
              <a:t>Star bullet point</a:t>
            </a:r>
          </a:p>
          <a:p>
            <a:pPr lvl="0" marL="457200" indent="-457200">
              <a:buChar char="→"/>
            </a:pPr>
            <a:r>
              <a:rPr lang="en-US" sz="2800" b="0" i="0" dirty="0"/>
              <a:t>Arrow bullet point</a:t>
            </a:r>
          </a:p>
          <a:p>
            <a:pPr lvl="0" marL="457200" indent="-457200">
              <a:buChar char="✓"/>
            </a:pPr>
            <a:r>
              <a:rPr lang="en-US" sz="2800" b="0" i="0" dirty="0"/>
              <a:t>Check bullet point</a:t>
            </a:r>
          </a:p>
          <a:p>
            <a:pPr lvl="0" marL="457200" indent="-457200">
              <a:buChar char="◆"/>
            </a:pPr>
            <a:r>
              <a:rPr lang="en-US" sz="2800" b="0" i="0" dirty="0"/>
              <a:t>Diamond bullet point</a:t>
            </a:r>
          </a:p>
          <a:p>
            <a:pPr lvl="0" marL="457200" indent="-457200">
              <a:buChar char="♥"/>
            </a:pPr>
            <a:r>
              <a:rPr lang="en-US" sz="2800" b="0" i="0" dirty="0"/>
              <a:t>Heart bullet point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Bullet Styles - Hierarchical Lists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2400" b="0" i="0" dirty="0"/>
              <a:t>Main Topic 1</a:t>
            </a:r>
          </a:p>
          <a:p>
            <a:pPr lvl="1" marL="1371600" indent="-914400">
              <a:buChar char="•"/>
            </a:pPr>
            <a:r>
              <a:rPr lang="en-US" sz="2400" b="0" i="0" dirty="0"/>
              <a:t>Supporting detail A</a:t>
            </a:r>
          </a:p>
          <a:p>
            <a:pPr lvl="1" marL="1371600" indent="-914400">
              <a:buChar char="•"/>
            </a:pPr>
            <a:r>
              <a:rPr lang="en-US" sz="2400" b="0" i="0" dirty="0"/>
              <a:t>Supporting detail B</a:t>
            </a:r>
          </a:p>
          <a:p>
            <a:pPr lvl="0" marL="457200" indent="-457200">
              <a:buChar char="•"/>
            </a:pPr>
            <a:r>
              <a:rPr lang="en-US" sz="2400" b="0" i="0" dirty="0"/>
              <a:t>Main Topic 2</a:t>
            </a:r>
          </a:p>
          <a:p>
            <a:pPr lvl="1" marL="1371600" indent="-914400">
              <a:buChar char="•"/>
            </a:pPr>
            <a:r>
              <a:rPr lang="en-US" sz="2400" b="0" i="0" dirty="0"/>
              <a:t>Supporting detail C</a:t>
            </a:r>
          </a:p>
          <a:p>
            <a:pPr lvl="1" marL="1371600" indent="-914400">
              <a:buChar char="•"/>
            </a:pPr>
            <a:r>
              <a:rPr lang="en-US" sz="2400" b="0" i="0" dirty="0"/>
              <a:t>Supporting detail D</a:t>
            </a:r>
          </a:p>
          <a:p>
            <a:pPr lvl="0" marL="457200" indent="-457200">
              <a:buChar char="•"/>
            </a:pPr>
            <a:r>
              <a:rPr lang="en-US" sz="2400" b="0" i="0" dirty="0"/>
              <a:t>Main Topic 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Text Enhancements - New Formatting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2400" b="0" i="0" dirty="0" strike="sngStrike"/>
              <a:t>Strikethrough: This text is crossed out</a:t>
            </a:r>
          </a:p>
          <a:p>
            <a:pPr lvl="0" marL="457200" indent="-457200">
              <a:buChar char="•"/>
            </a:pPr>
            <a:r>
              <a:rPr lang="en-US" sz="2400" b="0" i="0" dirty="0">
                <a:highlight>
                  <a:srgbClr val="FFFF00"/>
                </a:highlight>
              </a:rPr>
              <a:t>Highlight: Yellow background for emphasis</a:t>
            </a:r>
          </a:p>
          <a:p>
            <a:pPr lvl="0" marL="457200" indent="-457200">
              <a:buChar char="•"/>
            </a:pPr>
            <a:r>
              <a:rPr lang="en-US" sz="2400" b="0" i="0" dirty="0" baseline="-25000"/>
              <a:t>Subscript: H₂O - for chemical formulas</a:t>
            </a:r>
          </a:p>
          <a:p>
            <a:pPr lvl="0" marL="457200" indent="-457200">
              <a:buChar char="•"/>
            </a:pPr>
            <a:r>
              <a:rPr lang="en-US" sz="2400" b="0" i="0" dirty="0" baseline="30000"/>
              <a:t>Superscript: x² - for math expressions</a:t>
            </a:r>
          </a:p>
          <a:p>
            <a:pPr lvl="0" marL="457200" indent="-457200">
              <a:buChar char="•"/>
            </a:pPr>
            <a:r>
              <a:rPr lang="en-US" sz="2400" b="1" i="0" dirty="0">
                <a:solidFill>
                  <a:srgbClr val="FF0000"/>
                </a:solidFill>
              </a:rPr>
              <a:t>Combined: Bold + Red color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Font Size Presets - Each line different size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3600" b="0" i="0" dirty="0"/>
              <a:t>LARGE: 36pt - Extra large text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HEADING: 28pt - Section headers</a:t>
            </a:r>
          </a:p>
          <a:p>
            <a:pPr lvl="0" marL="457200" indent="-457200">
              <a:buChar char="•"/>
            </a:pPr>
            <a:r>
              <a:rPr lang="en-US" sz="1800" b="0" i="0" dirty="0"/>
              <a:t>BODY: 18pt - Regular content</a:t>
            </a:r>
          </a:p>
          <a:p>
            <a:pPr lvl="0" marL="457200" indent="-457200">
              <a:buChar char="•"/>
            </a:pPr>
            <a:r>
              <a:rPr lang="en-US" sz="1400" b="0" i="0" dirty="0"/>
              <a:t>SMALL: 14pt - Smaller text</a:t>
            </a:r>
          </a:p>
          <a:p>
            <a:pPr lvl="0" marL="457200" indent="-457200">
              <a:buChar char="•"/>
            </a:pPr>
            <a:r>
              <a:rPr lang="en-US" sz="1200" b="0" i="0" dirty="0"/>
              <a:t>CAPTION: 12pt - Captions and notes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Theme Color Palettes</a:t>
            </a:r>
          </a:p>
        </p:txBody>
      </p:sp>
      <p:sp>
        <p:nvSpPr>
          <p:cNvPr id="10" name="Shape 10"/>
          <p:cNvSpPr/>
          <p:nvPr/>
        </p:nvSpPr>
        <p:spPr>
          <a:xfrm>
            <a:off x="457200" y="1600200"/>
            <a:ext cx="1828800" cy="822960"/>
          </a:xfrm>
          <a:prstGeom prst="rect">
            <a:avLst/>
          </a:prstGeom>
          <a:solidFill>
            <a:srgbClr val="1565C0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2879" dirty="0">
                <a:solidFill>
                  <a:srgbClr val="FFFFFF"/>
                </a:solidFill>
              </a:rPr>
              <a:t>Corporate</a:t>
            </a:r>
          </a:p>
        </p:txBody>
      </p:sp>
      <p:sp>
        <p:nvSpPr>
          <p:cNvPr id="11" name="Shape 11"/>
          <p:cNvSpPr/>
          <p:nvPr/>
        </p:nvSpPr>
        <p:spPr>
          <a:xfrm>
            <a:off x="2468880" y="1600200"/>
            <a:ext cx="1828800" cy="822960"/>
          </a:xfrm>
          <a:prstGeom prst="rect">
            <a:avLst/>
          </a:prstGeom>
          <a:solidFill>
            <a:srgbClr val="212121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4320" dirty="0">
                <a:solidFill>
                  <a:srgbClr val="FFFFFF"/>
                </a:solidFill>
              </a:rPr>
              <a:t>Modern</a:t>
            </a:r>
          </a:p>
        </p:txBody>
      </p:sp>
      <p:sp>
        <p:nvSpPr>
          <p:cNvPr id="12" name="Shape 12"/>
          <p:cNvSpPr/>
          <p:nvPr/>
        </p:nvSpPr>
        <p:spPr>
          <a:xfrm>
            <a:off x="4480560" y="1600200"/>
            <a:ext cx="1828800" cy="822960"/>
          </a:xfrm>
          <a:prstGeom prst="rect">
            <a:avLst/>
          </a:prstGeom>
          <a:solidFill>
            <a:srgbClr val="E91E63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3702" dirty="0">
                <a:solidFill>
                  <a:srgbClr val="FFFFFF"/>
                </a:solidFill>
              </a:rPr>
              <a:t>Vibrant</a:t>
            </a:r>
          </a:p>
        </p:txBody>
      </p:sp>
      <p:sp>
        <p:nvSpPr>
          <p:cNvPr id="13" name="Shape 13"/>
          <p:cNvSpPr/>
          <p:nvPr/>
        </p:nvSpPr>
        <p:spPr>
          <a:xfrm>
            <a:off x="6492240" y="1600200"/>
            <a:ext cx="1828800" cy="822960"/>
          </a:xfrm>
          <a:prstGeom prst="rect">
            <a:avLst/>
          </a:prstGeom>
          <a:solidFill>
            <a:srgbClr val="BB86FC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4382" dirty="0">
                <a:solidFill>
                  <a:srgbClr val="000000"/>
                </a:solidFill>
              </a:rPr>
              <a:t>Dark</a:t>
            </a:r>
          </a:p>
        </p:txBody>
      </p:sp>
      <p:sp>
        <p:nvSpPr>
          <p:cNvPr id="14" name="Shape 14"/>
          <p:cNvSpPr/>
          <p:nvPr/>
        </p:nvSpPr>
        <p:spPr>
          <a:xfrm>
            <a:off x="457200" y="2743200"/>
            <a:ext cx="1828800" cy="822960"/>
          </a:xfrm>
          <a:prstGeom prst="rect">
            <a:avLst/>
          </a:prstGeom>
          <a:solidFill>
            <a:srgbClr val="2E7D32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4320" dirty="0">
                <a:solidFill>
                  <a:srgbClr val="FFFFFF"/>
                </a:solidFill>
              </a:rPr>
              <a:t>Nature</a:t>
            </a:r>
          </a:p>
        </p:txBody>
      </p:sp>
      <p:sp>
        <p:nvSpPr>
          <p:cNvPr id="15" name="Shape 15"/>
          <p:cNvSpPr/>
          <p:nvPr/>
        </p:nvSpPr>
        <p:spPr>
          <a:xfrm>
            <a:off x="2468880" y="2743200"/>
            <a:ext cx="1828800" cy="822960"/>
          </a:xfrm>
          <a:prstGeom prst="rect">
            <a:avLst/>
          </a:prstGeom>
          <a:solidFill>
            <a:srgbClr val="0D47A1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4382" dirty="0">
                <a:solidFill>
                  <a:srgbClr val="FFFFFF"/>
                </a:solidFill>
              </a:rPr>
              <a:t>Tech</a:t>
            </a:r>
          </a:p>
        </p:txBody>
      </p:sp>
      <p:sp>
        <p:nvSpPr>
          <p:cNvPr id="16" name="Shape 16"/>
          <p:cNvSpPr/>
          <p:nvPr/>
        </p:nvSpPr>
        <p:spPr>
          <a:xfrm>
            <a:off x="4480560" y="2743200"/>
            <a:ext cx="1828800" cy="822960"/>
          </a:xfrm>
          <a:prstGeom prst="rect">
            <a:avLst/>
          </a:prstGeom>
          <a:solidFill>
            <a:srgbClr val="0043CE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4320" dirty="0">
                <a:solidFill>
                  <a:srgbClr val="FFFFFF"/>
                </a:solidFill>
              </a:rPr>
              <a:t>Carbon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Material &amp; Carbon Design Colors</a:t>
            </a:r>
          </a:p>
        </p:txBody>
      </p:sp>
      <p:sp>
        <p:nvSpPr>
          <p:cNvPr id="10" name="Shape 10"/>
          <p:cNvSpPr/>
          <p:nvPr/>
        </p:nvSpPr>
        <p:spPr>
          <a:xfrm>
            <a:off x="457200" y="1600200"/>
            <a:ext cx="1188720" cy="640080"/>
          </a:xfrm>
          <a:prstGeom prst="rect">
            <a:avLst/>
          </a:prstGeom>
          <a:solidFill>
            <a:srgbClr val="F44336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3130" dirty="0">
                <a:solidFill>
                  <a:srgbClr val="FFFFFF"/>
                </a:solidFill>
              </a:rPr>
              <a:t>M-Red</a:t>
            </a:r>
          </a:p>
        </p:txBody>
      </p:sp>
      <p:sp>
        <p:nvSpPr>
          <p:cNvPr id="11" name="Shape 11"/>
          <p:cNvSpPr/>
          <p:nvPr/>
        </p:nvSpPr>
        <p:spPr>
          <a:xfrm>
            <a:off x="1920240" y="1600200"/>
            <a:ext cx="1188720" cy="640080"/>
          </a:xfrm>
          <a:prstGeom prst="rect">
            <a:avLst/>
          </a:prstGeom>
          <a:solidFill>
            <a:srgbClr val="2196F3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2640" dirty="0">
                <a:solidFill>
                  <a:srgbClr val="FFFFFF"/>
                </a:solidFill>
              </a:rPr>
              <a:t>M-Blue</a:t>
            </a:r>
          </a:p>
        </p:txBody>
      </p:sp>
      <p:sp>
        <p:nvSpPr>
          <p:cNvPr id="12" name="Shape 12"/>
          <p:cNvSpPr/>
          <p:nvPr/>
        </p:nvSpPr>
        <p:spPr>
          <a:xfrm>
            <a:off x="3291840" y="1600200"/>
            <a:ext cx="1188720" cy="640080"/>
          </a:xfrm>
          <a:prstGeom prst="rect">
            <a:avLst/>
          </a:prstGeom>
          <a:solidFill>
            <a:srgbClr val="4CAF50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2262" dirty="0">
                <a:solidFill>
                  <a:srgbClr val="000000"/>
                </a:solidFill>
              </a:rPr>
              <a:t>M-Green</a:t>
            </a:r>
          </a:p>
        </p:txBody>
      </p:sp>
      <p:sp>
        <p:nvSpPr>
          <p:cNvPr id="13" name="Shape 13"/>
          <p:cNvSpPr/>
          <p:nvPr/>
        </p:nvSpPr>
        <p:spPr>
          <a:xfrm>
            <a:off x="4663440" y="1600200"/>
            <a:ext cx="1188720" cy="640080"/>
          </a:xfrm>
          <a:prstGeom prst="rect">
            <a:avLst/>
          </a:prstGeom>
          <a:solidFill>
            <a:srgbClr val="FF9800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1980" dirty="0">
                <a:solidFill>
                  <a:srgbClr val="000000"/>
                </a:solidFill>
              </a:rPr>
              <a:t>M-Orange</a:t>
            </a:r>
          </a:p>
        </p:txBody>
      </p:sp>
      <p:sp>
        <p:nvSpPr>
          <p:cNvPr id="14" name="Shape 14"/>
          <p:cNvSpPr/>
          <p:nvPr/>
        </p:nvSpPr>
        <p:spPr>
          <a:xfrm>
            <a:off x="6126480" y="1600200"/>
            <a:ext cx="1188720" cy="640080"/>
          </a:xfrm>
          <a:prstGeom prst="rect">
            <a:avLst/>
          </a:prstGeom>
          <a:solidFill>
            <a:srgbClr val="9C27B0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1980" dirty="0">
                <a:solidFill>
                  <a:srgbClr val="FFFFFF"/>
                </a:solidFill>
              </a:rPr>
              <a:t>M-Purple</a:t>
            </a:r>
          </a:p>
        </p:txBody>
      </p:sp>
      <p:sp>
        <p:nvSpPr>
          <p:cNvPr id="15" name="Shape 15"/>
          <p:cNvSpPr/>
          <p:nvPr/>
        </p:nvSpPr>
        <p:spPr>
          <a:xfrm>
            <a:off x="457200" y="2468880"/>
            <a:ext cx="1188720" cy="640080"/>
          </a:xfrm>
          <a:prstGeom prst="rect">
            <a:avLst/>
          </a:prstGeom>
          <a:solidFill>
            <a:srgbClr val="0043CE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2640" dirty="0">
                <a:solidFill>
                  <a:srgbClr val="FFFFFF"/>
                </a:solidFill>
              </a:rPr>
              <a:t>C-Blue</a:t>
            </a:r>
          </a:p>
        </p:txBody>
      </p:sp>
      <p:sp>
        <p:nvSpPr>
          <p:cNvPr id="16" name="Shape 16"/>
          <p:cNvSpPr/>
          <p:nvPr/>
        </p:nvSpPr>
        <p:spPr>
          <a:xfrm>
            <a:off x="1920240" y="2468880"/>
            <a:ext cx="1188720" cy="640080"/>
          </a:xfrm>
          <a:prstGeom prst="rect">
            <a:avLst/>
          </a:prstGeom>
          <a:solidFill>
            <a:srgbClr val="24A148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2262" dirty="0">
                <a:solidFill>
                  <a:srgbClr val="FFFFFF"/>
                </a:solidFill>
              </a:rPr>
              <a:t>C-Green</a:t>
            </a:r>
          </a:p>
        </p:txBody>
      </p:sp>
      <p:sp>
        <p:nvSpPr>
          <p:cNvPr id="17" name="Shape 17"/>
          <p:cNvSpPr/>
          <p:nvPr/>
        </p:nvSpPr>
        <p:spPr>
          <a:xfrm>
            <a:off x="3291840" y="2468880"/>
            <a:ext cx="1188720" cy="640080"/>
          </a:xfrm>
          <a:prstGeom prst="rect">
            <a:avLst/>
          </a:prstGeom>
          <a:solidFill>
            <a:srgbClr val="DA1E28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3130" dirty="0">
                <a:solidFill>
                  <a:srgbClr val="FFFFFF"/>
                </a:solidFill>
              </a:rPr>
              <a:t>C-Red</a:t>
            </a:r>
          </a:p>
        </p:txBody>
      </p:sp>
      <p:sp>
        <p:nvSpPr>
          <p:cNvPr id="18" name="Shape 18"/>
          <p:cNvSpPr/>
          <p:nvPr/>
        </p:nvSpPr>
        <p:spPr>
          <a:xfrm>
            <a:off x="4663440" y="2468880"/>
            <a:ext cx="1188720" cy="640080"/>
          </a:xfrm>
          <a:prstGeom prst="rect">
            <a:avLst/>
          </a:prstGeom>
          <a:solidFill>
            <a:srgbClr val="8A3FFC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1980" dirty="0">
                <a:solidFill>
                  <a:srgbClr val="FFFFFF"/>
                </a:solidFill>
              </a:rPr>
              <a:t>C-Purple</a:t>
            </a:r>
          </a:p>
        </p:txBody>
      </p:sp>
      <p:sp>
        <p:nvSpPr>
          <p:cNvPr id="19" name="Shape 19"/>
          <p:cNvSpPr/>
          <p:nvPr/>
        </p:nvSpPr>
        <p:spPr>
          <a:xfrm>
            <a:off x="6126480" y="2468880"/>
            <a:ext cx="1188720" cy="640080"/>
          </a:xfrm>
          <a:prstGeom prst="rect">
            <a:avLst/>
          </a:prstGeom>
          <a:solidFill>
            <a:srgbClr val="161616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2640" dirty="0">
                <a:solidFill>
                  <a:srgbClr val="FFFFFF"/>
                </a:solidFill>
              </a:rPr>
              <a:t>C-Gray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Image Loading - New Methods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2400" b="0" i="0" dirty="0"/>
              <a:t>Image::new(path) - Load from file path</a:t>
            </a:r>
          </a:p>
          <a:p>
            <a:pPr lvl="0" marL="457200" indent="-457200">
              <a:buChar char="•"/>
            </a:pPr>
            <a:r>
              <a:rPr lang="en-US" sz="2400" b="0" i="0" dirty="0"/>
              <a:t>Image::from_base64(data) - Load from base64 string</a:t>
            </a:r>
          </a:p>
          <a:p>
            <a:pPr lvl="0" marL="457200" indent="-457200">
              <a:buChar char="•"/>
            </a:pPr>
            <a:r>
              <a:rPr lang="en-US" sz="2400" b="0" i="0" dirty="0"/>
              <a:t>Image::from_bytes(data) - Load from raw bytes</a:t>
            </a:r>
          </a:p>
          <a:p>
            <a:pPr lvl="0" marL="457200" indent="-457200">
              <a:buChar char="•"/>
            </a:pPr>
            <a:r>
              <a:rPr lang="en-US" sz="2400" b="0" i="0" dirty="0"/>
              <a:t>ImageBuilder for fluent API configuration</a:t>
            </a:r>
          </a:p>
          <a:p>
            <a:pPr lvl="0" marL="457200" indent="-457200">
              <a:buChar char="•"/>
            </a:pPr>
            <a:r>
              <a:rPr lang="en-US" sz="2400" b="0" i="0" dirty="0"/>
              <a:t>Built-in base64 decoder (no external deps)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New Features in v0.2.1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AutoNum type="arabicPeriod"/>
            </a:pPr>
            <a:r>
              <a:rPr lang="en-US" sz="2400" b="0" i="0" dirty="0"/>
              <a:t>BulletStyle: Number, Letter, Roman, Custom</a:t>
            </a:r>
          </a:p>
          <a:p>
            <a:pPr lvl="0" marL="457200" indent="-457200">
              <a:buAutoNum type="arabicPeriod"/>
            </a:pPr>
            <a:r>
              <a:rPr lang="en-US" sz="2400" b="0" i="0" dirty="0"/>
              <a:t>TextFormat: Strikethrough, Highlight</a:t>
            </a:r>
          </a:p>
          <a:p>
            <a:pPr lvl="0" marL="457200" indent="-457200">
              <a:buAutoNum type="arabicPeriod"/>
            </a:pPr>
            <a:r>
              <a:rPr lang="en-US" sz="2400" b="0" i="0" dirty="0"/>
              <a:t>TextFormat: Subscript, Superscript</a:t>
            </a:r>
          </a:p>
          <a:p>
            <a:pPr lvl="0" marL="457200" indent="-457200">
              <a:buAutoNum type="arabicPeriod"/>
            </a:pPr>
            <a:r>
              <a:rPr lang="en-US" sz="2400" b="0" i="0" dirty="0"/>
              <a:t>Font size presets in prelude</a:t>
            </a:r>
          </a:p>
          <a:p>
            <a:pPr lvl="0" marL="457200" indent="-457200">
              <a:buAutoNum type="arabicPeriod"/>
            </a:pPr>
            <a:r>
              <a:rPr lang="en-US" sz="2400" b="0" i="0" dirty="0"/>
              <a:t>Image::from_base64 and from_bytes</a:t>
            </a:r>
          </a:p>
          <a:p>
            <a:pPr lvl="0" marL="457200" indent="-457200">
              <a:buAutoNum type="arabicPeriod"/>
            </a:pPr>
            <a:r>
              <a:rPr lang="en-US" sz="2400" b="0" i="0" dirty="0"/>
              <a:t>Theme color palettes (7 themes)</a:t>
            </a:r>
          </a:p>
          <a:p>
            <a:pPr lvl="0" marL="457200" indent="-457200">
              <a:buAutoNum type="arabicPeriod"/>
            </a:pPr>
            <a:r>
              <a:rPr lang="en-US" sz="2400" b="0" i="0" dirty="0"/>
              <a:t>Material &amp; Carbon Design colors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Slide Show Settings - Mode Comparison</a:t>
            </a:r>
          </a:p>
        </p:txBody>
      </p:sp>
      <p:graphicFrame>
        <p:nvGraphicFramePr>
          <p:cNvPr id="3" name="Table 3"/>
          <p:cNvGraphicFramePr/>
          <p:nvPr/>
        </p:nvGraphicFramePr>
        <p:xfrm>
          <a:off x="300000" y="1600000"/>
          <a:ext cx="8000000" cy="2800000"/>
        </p:xfrm>
        <a:graphic>
          <a:graphicData uri="http://schemas.openxmlformats.org/drawingml/2006/table">
            <a:tbl>
              <a:tblPr firstRow="1" bandRow="1"/>
              <a:tblGrid>
                <a:gridCol w="2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Setting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Speaker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Kiosk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Browsed</a:t>
                      </a:r>
                    </a:p>
                  </a:txBody>
                  <a:tcPr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 b="1"/>
                        <a:t>Loop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2E7D32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 b="1"/>
                        <a:t>Narration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62828"/>
                          </a:solidFill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 b="1"/>
                        <a:t>Animation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62828"/>
                          </a:solidFill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 b="1"/>
                        <a:t>Timings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 b="1"/>
                        <a:t>Slide Range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1-10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 b="1"/>
                        <a:t>Pen Color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Shape 10"/>
          <p:cNvSpPr/>
          <p:nvPr/>
        </p:nvSpPr>
        <p:spPr>
          <a:xfrm>
            <a:off x="274320" y="4206240"/>
            <a:ext cx="2468880" cy="640080"/>
          </a:xfrm>
          <a:prstGeom prst="roundRect">
            <a:avLst/>
          </a:prstGeom>
          <a:solidFill>
            <a:srgbClr val="4472C4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1714" dirty="0">
                <a:solidFill>
                  <a:srgbClr val="FFFFFF"/>
                </a:solidFill>
              </a:rPr>
              <a:t>Speaker: Full control</a:t>
            </a:r>
          </a:p>
        </p:txBody>
      </p:sp>
      <p:sp>
        <p:nvSpPr>
          <p:cNvPr id="11" name="Shape 11"/>
          <p:cNvSpPr/>
          <p:nvPr/>
        </p:nvSpPr>
        <p:spPr>
          <a:xfrm>
            <a:off x="3108960" y="4206240"/>
            <a:ext cx="2468880" cy="640080"/>
          </a:xfrm>
          <a:prstGeom prst="roundRect">
            <a:avLst/>
          </a:prstGeom>
          <a:solidFill>
            <a:srgbClr val="ED7D31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2250" dirty="0">
                <a:solidFill>
                  <a:srgbClr val="000000"/>
                </a:solidFill>
              </a:rPr>
              <a:t>Kiosk: Auto-loop</a:t>
            </a:r>
          </a:p>
        </p:txBody>
      </p:sp>
      <p:sp>
        <p:nvSpPr>
          <p:cNvPr id="12" name="Shape 12"/>
          <p:cNvSpPr/>
          <p:nvPr/>
        </p:nvSpPr>
        <p:spPr>
          <a:xfrm>
            <a:off x="5943600" y="4206240"/>
            <a:ext cx="2468880" cy="640080"/>
          </a:xfrm>
          <a:prstGeom prst="roundRect">
            <a:avLst/>
          </a:prstGeom>
          <a:solidFill>
            <a:srgbClr val="70AD47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2000" dirty="0">
                <a:solidFill>
                  <a:srgbClr val="000000"/>
                </a:solidFill>
              </a:rPr>
              <a:t>Browsed: Scrollbar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Print Handout - 6 Slides Per Page</a:t>
            </a:r>
          </a:p>
        </p:txBody>
      </p:sp>
      <p:graphicFrame>
        <p:nvGraphicFramePr>
          <p:cNvPr id="3" name="Table 3"/>
          <p:cNvGraphicFramePr/>
          <p:nvPr/>
        </p:nvGraphicFramePr>
        <p:xfrm>
          <a:off x="5000000" y="1800000"/>
          <a:ext cx="3800000" cy="2800000"/>
        </p:xfrm>
        <a:graphic>
          <a:graphicData uri="http://schemas.openxmlformats.org/drawingml/2006/table">
            <a:tbl>
              <a:tblPr firstRow="1" bandRow="1"/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Print Settings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 b="1"/>
                        <a:t>Print What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Handouts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 b="1"/>
                        <a:t>Color Mode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Grayscale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 b="1"/>
                        <a:t>Layout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 slides/page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 b="1"/>
                        <a:t>Frame Slides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 b="1"/>
                        <a:t>Date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 b="1"/>
                        <a:t>Page Numbers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Shape 10"/>
          <p:cNvSpPr/>
          <p:nvPr/>
        </p:nvSpPr>
        <p:spPr>
          <a:xfrm>
            <a:off x="274320" y="1463040"/>
            <a:ext cx="4206240" cy="274320"/>
          </a:xfrm>
          <a:prstGeom prst="rect">
            <a:avLst/>
          </a:prstGeom>
          <a:solidFill>
            <a:srgbClr val="E7E6E6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869" dirty="0">
                <a:solidFill>
                  <a:srgbClr val="000000"/>
                </a:solidFill>
              </a:rPr>
              <a:t>Q1 2025 Strategy Review</a:t>
            </a:r>
          </a:p>
        </p:txBody>
      </p:sp>
      <p:sp>
        <p:nvSpPr>
          <p:cNvPr id="11" name="Shape 11"/>
          <p:cNvSpPr/>
          <p:nvPr/>
        </p:nvSpPr>
        <p:spPr>
          <a:xfrm>
            <a:off x="365760" y="2011680"/>
            <a:ext cx="1828800" cy="1097280"/>
          </a:xfrm>
          <a:prstGeom prst="rect">
            <a:avLst/>
          </a:prstGeom>
          <a:ln w="12700">
            <a:solidFill>
              <a:srgbClr val="999999"/>
            </a:solidFill>
          </a:ln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3702" dirty="0">
                <a:solidFill>
                  <a:srgbClr val="000000"/>
                </a:solidFill>
              </a:rPr>
              <a:t>Slide 1</a:t>
            </a:r>
          </a:p>
        </p:txBody>
      </p:sp>
      <p:sp>
        <p:nvSpPr>
          <p:cNvPr id="12" name="Shape 12"/>
          <p:cNvSpPr/>
          <p:nvPr/>
        </p:nvSpPr>
        <p:spPr>
          <a:xfrm>
            <a:off x="2468880" y="2011680"/>
            <a:ext cx="1828800" cy="1097280"/>
          </a:xfrm>
          <a:prstGeom prst="rect">
            <a:avLst/>
          </a:prstGeom>
          <a:ln w="12700">
            <a:solidFill>
              <a:srgbClr val="999999"/>
            </a:solidFill>
          </a:ln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3702" dirty="0">
                <a:solidFill>
                  <a:srgbClr val="000000"/>
                </a:solidFill>
              </a:rPr>
              <a:t>Slide 2</a:t>
            </a:r>
          </a:p>
        </p:txBody>
      </p:sp>
      <p:sp>
        <p:nvSpPr>
          <p:cNvPr id="13" name="Shape 13"/>
          <p:cNvSpPr/>
          <p:nvPr/>
        </p:nvSpPr>
        <p:spPr>
          <a:xfrm>
            <a:off x="365760" y="3200400"/>
            <a:ext cx="1828800" cy="1097280"/>
          </a:xfrm>
          <a:prstGeom prst="rect">
            <a:avLst/>
          </a:prstGeom>
          <a:ln w="12700">
            <a:solidFill>
              <a:srgbClr val="999999"/>
            </a:solidFill>
          </a:ln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3702" dirty="0">
                <a:solidFill>
                  <a:srgbClr val="000000"/>
                </a:solidFill>
              </a:rPr>
              <a:t>Slide 3</a:t>
            </a:r>
          </a:p>
        </p:txBody>
      </p:sp>
      <p:sp>
        <p:nvSpPr>
          <p:cNvPr id="14" name="Shape 14"/>
          <p:cNvSpPr/>
          <p:nvPr/>
        </p:nvSpPr>
        <p:spPr>
          <a:xfrm>
            <a:off x="2468880" y="3200400"/>
            <a:ext cx="1828800" cy="1097280"/>
          </a:xfrm>
          <a:prstGeom prst="rect">
            <a:avLst/>
          </a:prstGeom>
          <a:ln w="12700">
            <a:solidFill>
              <a:srgbClr val="999999"/>
            </a:solidFill>
          </a:ln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3702" dirty="0">
                <a:solidFill>
                  <a:srgbClr val="000000"/>
                </a:solidFill>
              </a:rPr>
              <a:t>Slide 4</a:t>
            </a:r>
          </a:p>
        </p:txBody>
      </p:sp>
      <p:sp>
        <p:nvSpPr>
          <p:cNvPr id="15" name="Shape 15"/>
          <p:cNvSpPr/>
          <p:nvPr/>
        </p:nvSpPr>
        <p:spPr>
          <a:xfrm>
            <a:off x="365760" y="4389120"/>
            <a:ext cx="1828800" cy="1097280"/>
          </a:xfrm>
          <a:prstGeom prst="rect">
            <a:avLst/>
          </a:prstGeom>
          <a:ln w="12700">
            <a:solidFill>
              <a:srgbClr val="999999"/>
            </a:solidFill>
          </a:ln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3702" dirty="0">
                <a:solidFill>
                  <a:srgbClr val="000000"/>
                </a:solidFill>
              </a:rPr>
              <a:t>Slide 5</a:t>
            </a:r>
          </a:p>
        </p:txBody>
      </p:sp>
      <p:sp>
        <p:nvSpPr>
          <p:cNvPr id="16" name="Shape 16"/>
          <p:cNvSpPr/>
          <p:nvPr/>
        </p:nvSpPr>
        <p:spPr>
          <a:xfrm>
            <a:off x="2468880" y="4389120"/>
            <a:ext cx="1828800" cy="1097280"/>
          </a:xfrm>
          <a:prstGeom prst="rect">
            <a:avLst/>
          </a:prstGeom>
          <a:ln w="12700">
            <a:solidFill>
              <a:srgbClr val="999999"/>
            </a:solidFill>
          </a:ln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3702" dirty="0">
                <a:solidFill>
                  <a:srgbClr val="000000"/>
                </a:solidFill>
              </a:rPr>
              <a:t>Slide 6</a:t>
            </a:r>
          </a:p>
        </p:txBody>
      </p:sp>
      <p:sp>
        <p:nvSpPr>
          <p:cNvPr id="17" name="Shape 17"/>
          <p:cNvSpPr/>
          <p:nvPr/>
        </p:nvSpPr>
        <p:spPr>
          <a:xfrm>
            <a:off x="274320" y="5577840"/>
            <a:ext cx="4206240" cy="274320"/>
          </a:xfrm>
          <a:prstGeom prst="rect">
            <a:avLst/>
          </a:prstGeom>
          <a:solidFill>
            <a:srgbClr val="E7E6E6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724" dirty="0">
                <a:solidFill>
                  <a:srgbClr val="000000"/>
                </a:solidFill>
              </a:rPr>
              <a:t>Confidential - Internal Use Only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Advanced Table Merging - Merged Cells</a:t>
            </a:r>
          </a:p>
        </p:txBody>
      </p:sp>
      <p:graphicFrame>
        <p:nvGraphicFramePr>
          <p:cNvPr id="3" name="Table 3"/>
          <p:cNvGraphicFramePr/>
          <p:nvPr/>
        </p:nvGraphicFramePr>
        <p:xfrm>
          <a:off x="300000" y="1600000"/>
          <a:ext cx="7500000" cy="2000000"/>
        </p:xfrm>
        <a:graphic>
          <a:graphicData uri="http://schemas.openxmlformats.org/drawingml/2006/table">
            <a:tbl>
              <a:tblPr firstRow="1" bandRow="1"/>
              <a:tblGrid>
                <a:gridCol w="1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00">
                <a:tc gridSpan="4"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Q1 2025 Revenue Report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 rowSpan="2"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1F497D"/>
                          </a:solidFill>
                        </a:rPr>
                        <a:t>Products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Hardware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rgbClr val="2E7D32"/>
                          </a:solidFill>
                        </a:rPr>
                        <a:t>$450,000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b="1">
                          <a:solidFill>
                            <a:srgbClr val="2E7D32"/>
                          </a:solidFill>
                        </a:rPr>
                        <a:t>+12%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Software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rgbClr val="2E7D32"/>
                          </a:solidFill>
                        </a:rPr>
                        <a:t>$680,000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b="1">
                          <a:solidFill>
                            <a:srgbClr val="2E7D32"/>
                          </a:solidFill>
                        </a:rPr>
                        <a:t>+25%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 rowSpan="2"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C65911"/>
                          </a:solidFill>
                        </a:rPr>
                        <a:t>Services</a:t>
                      </a:r>
                    </a:p>
                  </a:txBody>
                  <a:tcP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Consulting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rgbClr val="2E7D32"/>
                          </a:solidFill>
                        </a:rPr>
                        <a:t>$320,000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b="1">
                          <a:solidFill>
                            <a:srgbClr val="2E7D32"/>
                          </a:solidFill>
                        </a:rPr>
                        <a:t>+8%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Support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rgbClr val="2E7D32"/>
                          </a:solidFill>
                        </a:rPr>
                        <a:t>$190,000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b="1">
                          <a:solidFill>
                            <a:srgbClr val="2E7D32"/>
                          </a:solidFill>
                        </a:rPr>
                        <a:t>+5%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10"/>
          <p:cNvSpPr/>
          <p:nvPr/>
        </p:nvSpPr>
        <p:spPr>
          <a:xfrm>
            <a:off x="274320" y="4389120"/>
            <a:ext cx="2011680" cy="365760"/>
          </a:xfrm>
          <a:prstGeom prst="roundRect">
            <a:avLst/>
          </a:prstGeom>
          <a:solidFill>
            <a:srgbClr val="4472C4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1152" dirty="0">
                <a:solidFill>
                  <a:srgbClr val="FFFFFF"/>
                </a:solidFill>
              </a:rPr>
              <a:t>Anchor (gridSpan/rowSpan)</a:t>
            </a:r>
          </a:p>
        </p:txBody>
      </p:sp>
      <p:sp>
        <p:nvSpPr>
          <p:cNvPr id="11" name="Shape 11"/>
          <p:cNvSpPr/>
          <p:nvPr/>
        </p:nvSpPr>
        <p:spPr>
          <a:xfrm>
            <a:off x="2468880" y="4389120"/>
            <a:ext cx="2011680" cy="365760"/>
          </a:xfrm>
          <a:prstGeom prst="roundRect">
            <a:avLst/>
          </a:prstGeom>
          <a:solidFill>
            <a:srgbClr val="ED7D31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1252" dirty="0">
                <a:solidFill>
                  <a:srgbClr val="000000"/>
                </a:solidFill>
              </a:rPr>
              <a:t>hMerge (col covered)</a:t>
            </a:r>
          </a:p>
        </p:txBody>
      </p:sp>
      <p:sp>
        <p:nvSpPr>
          <p:cNvPr id="12" name="Shape 12"/>
          <p:cNvSpPr/>
          <p:nvPr/>
        </p:nvSpPr>
        <p:spPr>
          <a:xfrm>
            <a:off x="4663440" y="4389120"/>
            <a:ext cx="2011680" cy="365760"/>
          </a:xfrm>
          <a:prstGeom prst="roundRect">
            <a:avLst/>
          </a:prstGeom>
          <a:solidFill>
            <a:srgbClr val="70AD47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1252" dirty="0">
                <a:solidFill>
                  <a:srgbClr val="000000"/>
                </a:solidFill>
              </a:rPr>
              <a:t>vMerge (row covered)</a:t>
            </a:r>
          </a:p>
        </p:txBody>
      </p:sp>
      <p:sp>
        <p:nvSpPr>
          <p:cNvPr id="13" name="Shape 13"/>
          <p:cNvSpPr/>
          <p:nvPr/>
        </p:nvSpPr>
        <p:spPr>
          <a:xfrm>
            <a:off x="6858000" y="4389120"/>
            <a:ext cx="2011680" cy="365760"/>
          </a:xfrm>
          <a:prstGeom prst="roundRect">
            <a:avLst/>
          </a:prstGeom>
          <a:solidFill>
            <a:srgbClr val="A5A5A5"/>
          </a:solidFill>
        </p:spPr>
        <p:txBody>
          <a:bodyPr wrap="square" rtlCol="0" anchor="ctr" lIns="91440" tIns="45720" rIns="91440" bIns="45720">
            <a:normAutofit/>
          </a:bodyPr>
          <a:lstStyle/>
          <a:p>
            <a:pPr algn="ctr" marL="0" marR="0" indent="0"/>
            <a:r>
              <a:rPr lang="en-US" sz="1252" dirty="0">
                <a:solidFill>
                  <a:srgbClr val="000000"/>
                </a:solidFill>
              </a:rPr>
              <a:t>Normal (no merge)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pptx-rs</Application>
  <PresentationFormat>On-screen Show (4:3)</PresentationFormat>
  <Paragraphs>0</Paragraphs>
  <Slides>44</Slides>
  <Notes>1</Notes>
  <HiddenSlides>0</HiddenSlides>
  <MMClips>0</MMClips>
  <ScaleCrop>false</ScaleCrop>
  <HeadingPairs>
    <vt:vector size="2" baseType="variant">
      <vt:variant>
        <vt:lpstr>Slide Titles</vt:lpstr>
      </vt:variant>
      <vt:variant>
        <vt:i4>44</vt:i4>
      </vt:variant>
    </vt:vector>
  </HeadingPairs>
  <TitlesOfParts>
    <vt:vector size="44" baseType="lpstr">
      <vt:lpstr>PPTX-RS Element Showcase</vt:lpstr>
      <vt:lpstr>Section: Slide Layouts</vt:lpstr>
      <vt:lpstr>Text Formatting Options</vt:lpstr>
      <vt:lpstr>Key Highlights</vt:lpstr>
      <vt:lpstr>Two Column Comparison</vt:lpstr>
      <vt:lpstr>Slide 6</vt:lpstr>
      <vt:lpstr>Table with Cell Styling</vt:lpstr>
      <vt:lpstr>Chart Types: Bar, Line, Pie</vt:lpstr>
      <vt:lpstr>Shape Types with Color Fills</vt:lpstr>
      <vt:lpstr>Gradient Fills - Multiple Directions</vt:lpstr>
      <vt:lpstr>Transparency Effects - Overlapping Shapes</vt:lpstr>
      <vt:lpstr>Styled Connectors - Types, Arrows, Dashes</vt:lpstr>
      <vt:lpstr>Image Effects: Shadow (Outer Shadow)</vt:lpstr>
      <vt:lpstr>Image Effects: Reflection (Mirror Effect)</vt:lpstr>
      <vt:lpstr>Image Cropping: All Sides, Top/Bottom, Left/Right</vt:lpstr>
      <vt:lpstr>Image Effects: Glow (Golden Aura)</vt:lpstr>
      <vt:lpstr>Image Effects: Soft Edges (Feathered)</vt:lpstr>
      <vt:lpstr>Image Effects: Inner Shadow (Depth)</vt:lpstr>
      <vt:lpstr>Image Effects: Blur (Artistic)</vt:lpstr>
      <vt:lpstr>Combined Effects: Shadow + Reflection</vt:lpstr>
      <vt:lpstr>Financial Report - Advanced Table</vt:lpstr>
      <vt:lpstr>Pricing Comparison Matrix</vt:lpstr>
      <vt:lpstr>Development Process Flow</vt:lpstr>
      <vt:lpstr>Organization Structure</vt:lpstr>
      <vt:lpstr>PDCA Continuous Improvement Cycle</vt:lpstr>
      <vt:lpstr>Maslow's Hierarchy of Needs</vt:lpstr>
      <vt:lpstr>Finding Your Ikigai - Venn Diagram</vt:lpstr>
      <vt:lpstr>Project Roadmap 2024-2025</vt:lpstr>
      <vt:lpstr>Executive Dashboard - Q1 2024</vt:lpstr>
      <vt:lpstr>Summary &amp; Next Steps</vt:lpstr>
      <vt:lpstr>Bullet Styles - Numbered List</vt:lpstr>
      <vt:lpstr>Bullet Styles - Lettered Lists</vt:lpstr>
      <vt:lpstr>Bullet Styles - Roman Numerals</vt:lpstr>
      <vt:lpstr>Bullet Styles - Custom Characters</vt:lpstr>
      <vt:lpstr>Bullet Styles - Hierarchical Lists</vt:lpstr>
      <vt:lpstr>Text Enhancements - New Formatting</vt:lpstr>
      <vt:lpstr>Font Size Presets - Each line different size</vt:lpstr>
      <vt:lpstr>Theme Color Palettes</vt:lpstr>
      <vt:lpstr>Material &amp; Carbon Design Colors</vt:lpstr>
      <vt:lpstr>Image Loading - New Methods</vt:lpstr>
      <vt:lpstr>New Features in v0.2.1</vt:lpstr>
      <vt:lpstr>Slide Show Settings - Mode Comparison</vt:lpstr>
      <vt:lpstr>Print Handout - 6 Slides Per Page</vt:lpstr>
      <vt:lpstr>Advanced Table Merging - Merged Cells</vt:lpstr>
    </vt:vector>
  </TitlesOfParts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PPTX-RS Element Showcase</dc:title>
  <dc:creator>pptx-rs</dc:creator>
  <cp:lastModifiedBy>pptx-rs</cp:lastModifiedBy>
  <cp:revision>1</cp:revision>
  <dcterms:created xsi:type="dcterms:W3CDTF">2026-10-06T12:15:07Z</dcterms:created>
  <dcterms:modified xsi:type="dcterms:W3CDTF">2026-10-06T12:15:07Z</dcterms:modified>
</cp:coreProperties>
</file>